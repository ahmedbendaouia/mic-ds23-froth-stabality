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2"/>
    <p:sldId id="257" r:id="rId23"/>
    <p:sldId id="258" r:id="rId24"/>
    <p:sldId id="259" r:id="rId25"/>
    <p:sldId id="260" r:id="rId26"/>
    <p:sldId id="261" r:id="rId27"/>
    <p:sldId id="262" r:id="rId28"/>
    <p:sldId id="263" r:id="rId29"/>
    <p:sldId id="264" r:id="rId30"/>
    <p:sldId id="265" r:id="rId31"/>
    <p:sldId id="266" r:id="rId32"/>
    <p:sldId id="267" r:id="rId33"/>
    <p:sldId id="268" r:id="rId34"/>
    <p:sldId id="269" r:id="rId35"/>
    <p:sldId id="270" r:id="rId36"/>
    <p:sldId id="271" r:id="rId37"/>
    <p:sldId id="272" r:id="rId38"/>
    <p:sldId id="273" r:id="rId39"/>
    <p:sldId id="274" r:id="rId40"/>
    <p:sldId id="275" r:id="rId41"/>
    <p:sldId id="276" r:id="rId42"/>
    <p:sldId id="277" r:id="rId43"/>
    <p:sldId id="278" r:id="rId44"/>
    <p:sldId id="279" r:id="rId45"/>
    <p:sldId id="280" r:id="rId46"/>
    <p:sldId id="281" r:id="rId47"/>
    <p:sldId id="282" r:id="rId48"/>
    <p:sldId id="283" r:id="rId49"/>
    <p:sldId id="284" r:id="rId50"/>
    <p:sldId id="285" r:id="rId51"/>
    <p:sldId id="286" r:id="rId52"/>
    <p:sldId id="287" r:id="rId53"/>
  </p:sldIdLst>
  <p:sldSz cx="18288000" cy="10287000"/>
  <p:notesSz cx="6858000" cy="9144000"/>
  <p:embeddedFontLst>
    <p:embeddedFont>
      <p:font typeface="Aileron Regular" charset="1" panose="00000500000000000000"/>
      <p:regular r:id="rId6"/>
    </p:embeddedFont>
    <p:embeddedFont>
      <p:font typeface="Aileron Regular Bold" charset="1" panose="00000800000000000000"/>
      <p:regular r:id="rId7"/>
    </p:embeddedFont>
    <p:embeddedFont>
      <p:font typeface="Aileron Regular Italics" charset="1" panose="00000500000000000000"/>
      <p:regular r:id="rId8"/>
    </p:embeddedFont>
    <p:embeddedFont>
      <p:font typeface="Aileron Regular Bold Italics" charset="1" panose="00000800000000000000"/>
      <p:regular r:id="rId9"/>
    </p:embeddedFont>
    <p:embeddedFont>
      <p:font typeface="Arimo" charset="1" panose="020B0604020202020204"/>
      <p:regular r:id="rId10"/>
    </p:embeddedFont>
    <p:embeddedFont>
      <p:font typeface="Arimo Bold" charset="1" panose="020B0704020202020204"/>
      <p:regular r:id="rId11"/>
    </p:embeddedFont>
    <p:embeddedFont>
      <p:font typeface="Arimo Italics" charset="1" panose="020B0604020202090204"/>
      <p:regular r:id="rId12"/>
    </p:embeddedFont>
    <p:embeddedFont>
      <p:font typeface="Arimo Bold Italics" charset="1" panose="020B0704020202090204"/>
      <p:regular r:id="rId13"/>
    </p:embeddedFont>
    <p:embeddedFont>
      <p:font typeface="Aileron Heavy" charset="1" panose="00000A00000000000000"/>
      <p:regular r:id="rId14"/>
    </p:embeddedFont>
    <p:embeddedFont>
      <p:font typeface="Aileron Heavy Bold" charset="1" panose="00000A00000000000000"/>
      <p:regular r:id="rId15"/>
    </p:embeddedFont>
    <p:embeddedFont>
      <p:font typeface="Aileron Heavy Italics" charset="1" panose="00000A00000000000000"/>
      <p:regular r:id="rId16"/>
    </p:embeddedFont>
    <p:embeddedFont>
      <p:font typeface="Aileron Heavy Bold Italics" charset="1" panose="00000A00000000000000"/>
      <p:regular r:id="rId17"/>
    </p:embeddedFont>
    <p:embeddedFont>
      <p:font typeface="Canva Sans" charset="1" panose="020B0503030501040103"/>
      <p:regular r:id="rId18"/>
    </p:embeddedFont>
    <p:embeddedFont>
      <p:font typeface="Canva Sans Bold" charset="1" panose="020B0803030501040103"/>
      <p:regular r:id="rId19"/>
    </p:embeddedFont>
    <p:embeddedFont>
      <p:font typeface="Canva Sans Italics" charset="1" panose="020B0503030501040103"/>
      <p:regular r:id="rId20"/>
    </p:embeddedFont>
    <p:embeddedFont>
      <p:font typeface="Canva Sans Bold Italics" charset="1" panose="020B08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slides/slide1.xml" Type="http://schemas.openxmlformats.org/officeDocument/2006/relationships/slide"/><Relationship Id="rId23" Target="slides/slide2.xml" Type="http://schemas.openxmlformats.org/officeDocument/2006/relationships/slide"/><Relationship Id="rId24" Target="slides/slide3.xml" Type="http://schemas.openxmlformats.org/officeDocument/2006/relationships/slide"/><Relationship Id="rId25" Target="slides/slide4.xml" Type="http://schemas.openxmlformats.org/officeDocument/2006/relationships/slide"/><Relationship Id="rId26" Target="slides/slide5.xml" Type="http://schemas.openxmlformats.org/officeDocument/2006/relationships/slide"/><Relationship Id="rId27" Target="slides/slide6.xml" Type="http://schemas.openxmlformats.org/officeDocument/2006/relationships/slide"/><Relationship Id="rId28" Target="slides/slide7.xml" Type="http://schemas.openxmlformats.org/officeDocument/2006/relationships/slide"/><Relationship Id="rId29" Target="slides/slide8.xml" Type="http://schemas.openxmlformats.org/officeDocument/2006/relationships/slide"/><Relationship Id="rId3" Target="viewProps.xml" Type="http://schemas.openxmlformats.org/officeDocument/2006/relationships/viewProps"/><Relationship Id="rId30" Target="slides/slide9.xml" Type="http://schemas.openxmlformats.org/officeDocument/2006/relationships/slide"/><Relationship Id="rId31" Target="slides/slide10.xml" Type="http://schemas.openxmlformats.org/officeDocument/2006/relationships/slide"/><Relationship Id="rId32" Target="slides/slide11.xml" Type="http://schemas.openxmlformats.org/officeDocument/2006/relationships/slide"/><Relationship Id="rId33" Target="slides/slide12.xml" Type="http://schemas.openxmlformats.org/officeDocument/2006/relationships/slide"/><Relationship Id="rId34" Target="slides/slide13.xml" Type="http://schemas.openxmlformats.org/officeDocument/2006/relationships/slide"/><Relationship Id="rId35" Target="slides/slide14.xml" Type="http://schemas.openxmlformats.org/officeDocument/2006/relationships/slide"/><Relationship Id="rId36" Target="slides/slide15.xml" Type="http://schemas.openxmlformats.org/officeDocument/2006/relationships/slide"/><Relationship Id="rId37" Target="slides/slide16.xml" Type="http://schemas.openxmlformats.org/officeDocument/2006/relationships/slide"/><Relationship Id="rId38" Target="slides/slide17.xml" Type="http://schemas.openxmlformats.org/officeDocument/2006/relationships/slide"/><Relationship Id="rId39" Target="slides/slide18.xml" Type="http://schemas.openxmlformats.org/officeDocument/2006/relationships/slide"/><Relationship Id="rId4" Target="theme/theme1.xml" Type="http://schemas.openxmlformats.org/officeDocument/2006/relationships/theme"/><Relationship Id="rId40" Target="slides/slide19.xml" Type="http://schemas.openxmlformats.org/officeDocument/2006/relationships/slide"/><Relationship Id="rId41" Target="slides/slide20.xml" Type="http://schemas.openxmlformats.org/officeDocument/2006/relationships/slide"/><Relationship Id="rId42" Target="slides/slide21.xml" Type="http://schemas.openxmlformats.org/officeDocument/2006/relationships/slide"/><Relationship Id="rId43" Target="slides/slide22.xml" Type="http://schemas.openxmlformats.org/officeDocument/2006/relationships/slide"/><Relationship Id="rId44" Target="slides/slide23.xml" Type="http://schemas.openxmlformats.org/officeDocument/2006/relationships/slide"/><Relationship Id="rId45" Target="slides/slide24.xml" Type="http://schemas.openxmlformats.org/officeDocument/2006/relationships/slide"/><Relationship Id="rId46" Target="slides/slide25.xml" Type="http://schemas.openxmlformats.org/officeDocument/2006/relationships/slide"/><Relationship Id="rId47" Target="slides/slide26.xml" Type="http://schemas.openxmlformats.org/officeDocument/2006/relationships/slide"/><Relationship Id="rId48" Target="slides/slide27.xml" Type="http://schemas.openxmlformats.org/officeDocument/2006/relationships/slide"/><Relationship Id="rId49" Target="slides/slide28.xml" Type="http://schemas.openxmlformats.org/officeDocument/2006/relationships/slide"/><Relationship Id="rId5" Target="tableStyles.xml" Type="http://schemas.openxmlformats.org/officeDocument/2006/relationships/tableStyles"/><Relationship Id="rId50" Target="slides/slide29.xml" Type="http://schemas.openxmlformats.org/officeDocument/2006/relationships/slide"/><Relationship Id="rId51" Target="slides/slide30.xml" Type="http://schemas.openxmlformats.org/officeDocument/2006/relationships/slide"/><Relationship Id="rId52" Target="slides/slide31.xml" Type="http://schemas.openxmlformats.org/officeDocument/2006/relationships/slide"/><Relationship Id="rId53" Target="slides/slide32.xml" Type="http://schemas.openxmlformats.org/officeDocument/2006/relationships/slide"/><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0.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1.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gif" Type="http://schemas.openxmlformats.org/officeDocument/2006/relationships/image"/></Relationships>
</file>

<file path=ppt/slides/_rels/slide13.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4.gif" Type="http://schemas.openxmlformats.org/officeDocument/2006/relationships/image"/></Relationships>
</file>

<file path=ppt/slides/_rels/slide14.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4.gif" Type="http://schemas.openxmlformats.org/officeDocument/2006/relationships/image"/></Relationships>
</file>

<file path=ppt/slides/_rels/slide1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s>
</file>

<file path=ppt/slides/_rels/slide1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7.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14.gif" Type="http://schemas.openxmlformats.org/officeDocument/2006/relationships/image"/></Relationships>
</file>

<file path=ppt/slides/_rels/slide1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14.gif" Type="http://schemas.openxmlformats.org/officeDocument/2006/relationships/image"/></Relationships>
</file>

<file path=ppt/slides/_rels/slide20.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14.gif" Type="http://schemas.openxmlformats.org/officeDocument/2006/relationships/image"/></Relationships>
</file>

<file path=ppt/slides/_rels/slide2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s>
</file>

<file path=ppt/slides/_rels/slide22.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3.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4.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7.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2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s>
</file>

<file path=ppt/slides/_rels/slide2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0.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s>
</file>

<file path=ppt/slides/_rels/slide3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s>
</file>

<file path=ppt/slides/_rels/slide32.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EFE"/>
        </a:solidFill>
      </p:bgPr>
    </p:bg>
    <p:spTree>
      <p:nvGrpSpPr>
        <p:cNvPr id="1" name=""/>
        <p:cNvGrpSpPr/>
        <p:nvPr/>
      </p:nvGrpSpPr>
      <p:grpSpPr>
        <a:xfrm>
          <a:off x="0" y="0"/>
          <a:ext cx="0" cy="0"/>
          <a:chOff x="0" y="0"/>
          <a:chExt cx="0" cy="0"/>
        </a:xfrm>
      </p:grpSpPr>
      <p:sp>
        <p:nvSpPr>
          <p:cNvPr name="AutoShape 2" id="2"/>
          <p:cNvSpPr/>
          <p:nvPr/>
        </p:nvSpPr>
        <p:spPr>
          <a:xfrm rot="0">
            <a:off x="1028700" y="1252538"/>
            <a:ext cx="15134427" cy="9525"/>
          </a:xfrm>
          <a:prstGeom prst="rect">
            <a:avLst/>
          </a:prstGeom>
          <a:solidFill>
            <a:srgbClr val="191919"/>
          </a:solidFill>
        </p:spPr>
      </p:sp>
      <p:pic>
        <p:nvPicPr>
          <p:cNvPr name="Picture 3" id="3"/>
          <p:cNvPicPr>
            <a:picLocks noChangeAspect="true"/>
          </p:cNvPicPr>
          <p:nvPr/>
        </p:nvPicPr>
        <p:blipFill>
          <a:blip r:embed="rId2"/>
          <a:srcRect l="0" t="0" r="0" b="0"/>
          <a:stretch>
            <a:fillRect/>
          </a:stretch>
        </p:blipFill>
        <p:spPr>
          <a:xfrm flipH="false" flipV="false" rot="0">
            <a:off x="6716293" y="1262062"/>
            <a:ext cx="4855415" cy="1959203"/>
          </a:xfrm>
          <a:prstGeom prst="rect">
            <a:avLst/>
          </a:prstGeom>
        </p:spPr>
      </p:pic>
      <p:grpSp>
        <p:nvGrpSpPr>
          <p:cNvPr name="Group 4" id="4"/>
          <p:cNvGrpSpPr/>
          <p:nvPr/>
        </p:nvGrpSpPr>
        <p:grpSpPr>
          <a:xfrm rot="0">
            <a:off x="2692560" y="3532608"/>
            <a:ext cx="12902880" cy="3221784"/>
            <a:chOff x="0" y="0"/>
            <a:chExt cx="17203840" cy="4295712"/>
          </a:xfrm>
        </p:grpSpPr>
        <p:sp>
          <p:nvSpPr>
            <p:cNvPr name="TextBox 5" id="5"/>
            <p:cNvSpPr txBox="true"/>
            <p:nvPr/>
          </p:nvSpPr>
          <p:spPr>
            <a:xfrm rot="0">
              <a:off x="0" y="1261110"/>
              <a:ext cx="17203840" cy="1672590"/>
            </a:xfrm>
            <a:prstGeom prst="rect">
              <a:avLst/>
            </a:prstGeom>
          </p:spPr>
          <p:txBody>
            <a:bodyPr anchor="t" rtlCol="false" tIns="0" lIns="0" bIns="0" rIns="0">
              <a:spAutoFit/>
            </a:bodyPr>
            <a:lstStyle/>
            <a:p>
              <a:pPr algn="ctr">
                <a:lnSpc>
                  <a:spcPts val="9075"/>
                </a:lnSpc>
              </a:pPr>
              <a:r>
                <a:rPr lang="en-US" sz="9075">
                  <a:solidFill>
                    <a:srgbClr val="191919"/>
                  </a:solidFill>
                  <a:latin typeface="Aileron Heavy Bold"/>
                </a:rPr>
                <a:t>FROTH STABILITY</a:t>
              </a:r>
            </a:p>
          </p:txBody>
        </p:sp>
        <p:sp>
          <p:nvSpPr>
            <p:cNvPr name="TextBox 6" id="6"/>
            <p:cNvSpPr txBox="true"/>
            <p:nvPr/>
          </p:nvSpPr>
          <p:spPr>
            <a:xfrm rot="0">
              <a:off x="0" y="3650975"/>
              <a:ext cx="17203840" cy="644737"/>
            </a:xfrm>
            <a:prstGeom prst="rect">
              <a:avLst/>
            </a:prstGeom>
          </p:spPr>
          <p:txBody>
            <a:bodyPr anchor="t" rtlCol="false" tIns="0" lIns="0" bIns="0" rIns="0">
              <a:spAutoFit/>
            </a:bodyPr>
            <a:lstStyle/>
            <a:p>
              <a:pPr algn="just">
                <a:lnSpc>
                  <a:spcPts val="4060"/>
                </a:lnSpc>
              </a:pPr>
            </a:p>
          </p:txBody>
        </p:sp>
      </p:grpSp>
      <p:sp>
        <p:nvSpPr>
          <p:cNvPr name="TextBox 7" id="7"/>
          <p:cNvSpPr txBox="true"/>
          <p:nvPr/>
        </p:nvSpPr>
        <p:spPr>
          <a:xfrm rot="0">
            <a:off x="11571707" y="7466273"/>
            <a:ext cx="6113258" cy="1590675"/>
          </a:xfrm>
          <a:prstGeom prst="rect">
            <a:avLst/>
          </a:prstGeom>
        </p:spPr>
        <p:txBody>
          <a:bodyPr anchor="t" rtlCol="false" tIns="0" lIns="0" bIns="0" rIns="0">
            <a:spAutoFit/>
          </a:bodyPr>
          <a:lstStyle/>
          <a:p>
            <a:pPr>
              <a:lnSpc>
                <a:spcPts val="4200"/>
              </a:lnSpc>
              <a:spcBef>
                <a:spcPct val="0"/>
              </a:spcBef>
            </a:pPr>
            <a:r>
              <a:rPr lang="en-US" sz="3000" spc="270">
                <a:solidFill>
                  <a:srgbClr val="191919"/>
                </a:solidFill>
                <a:latin typeface="Aileron Regular Bold"/>
              </a:rPr>
              <a:t>Supervised by</a:t>
            </a:r>
          </a:p>
          <a:p>
            <a:pPr>
              <a:lnSpc>
                <a:spcPts val="4200"/>
              </a:lnSpc>
              <a:spcBef>
                <a:spcPct val="0"/>
              </a:spcBef>
            </a:pPr>
            <a:r>
              <a:rPr lang="en-US" sz="3000" spc="270">
                <a:solidFill>
                  <a:srgbClr val="191919"/>
                </a:solidFill>
                <a:latin typeface="Aileron Regular"/>
              </a:rPr>
              <a:t>Mr. El Hassan Abdelwahed </a:t>
            </a:r>
          </a:p>
          <a:p>
            <a:pPr>
              <a:lnSpc>
                <a:spcPts val="4200"/>
              </a:lnSpc>
              <a:spcBef>
                <a:spcPct val="0"/>
              </a:spcBef>
            </a:pPr>
            <a:r>
              <a:rPr lang="en-US" sz="3000" spc="270">
                <a:solidFill>
                  <a:srgbClr val="191919"/>
                </a:solidFill>
                <a:latin typeface="Aileron Regular"/>
              </a:rPr>
              <a:t>Mr. Ahmed BENDAOUIA </a:t>
            </a:r>
          </a:p>
        </p:txBody>
      </p:sp>
      <p:sp>
        <p:nvSpPr>
          <p:cNvPr name="TextBox 8" id="8"/>
          <p:cNvSpPr txBox="true"/>
          <p:nvPr/>
        </p:nvSpPr>
        <p:spPr>
          <a:xfrm rot="0">
            <a:off x="1366247" y="7629558"/>
            <a:ext cx="6903095" cy="1057275"/>
          </a:xfrm>
          <a:prstGeom prst="rect">
            <a:avLst/>
          </a:prstGeom>
        </p:spPr>
        <p:txBody>
          <a:bodyPr anchor="t" rtlCol="false" tIns="0" lIns="0" bIns="0" rIns="0">
            <a:spAutoFit/>
          </a:bodyPr>
          <a:lstStyle/>
          <a:p>
            <a:pPr algn="l">
              <a:lnSpc>
                <a:spcPts val="4200"/>
              </a:lnSpc>
              <a:spcBef>
                <a:spcPct val="0"/>
              </a:spcBef>
            </a:pPr>
            <a:r>
              <a:rPr lang="en-US" sz="3000" spc="270">
                <a:solidFill>
                  <a:srgbClr val="191919"/>
                </a:solidFill>
                <a:latin typeface="Aileron Regular Bold"/>
              </a:rPr>
              <a:t>R</a:t>
            </a:r>
            <a:r>
              <a:rPr lang="en-US" sz="3000" spc="270">
                <a:solidFill>
                  <a:srgbClr val="191919"/>
                </a:solidFill>
                <a:latin typeface="Aileron Regular Bold"/>
              </a:rPr>
              <a:t>ealized by : </a:t>
            </a:r>
            <a:r>
              <a:rPr lang="en-US" sz="3000" spc="270">
                <a:solidFill>
                  <a:srgbClr val="191919"/>
                </a:solidFill>
                <a:latin typeface="Aileron Regular Bold"/>
              </a:rPr>
              <a:t>Naji Oussama </a:t>
            </a:r>
          </a:p>
          <a:p>
            <a:pPr algn="ctr">
              <a:lnSpc>
                <a:spcPts val="4200"/>
              </a:lnSpc>
              <a:spcBef>
                <a:spcPct val="0"/>
              </a:spcBef>
            </a:pPr>
            <a:r>
              <a:rPr lang="en-US" sz="3000" spc="270">
                <a:solidFill>
                  <a:srgbClr val="191919"/>
                </a:solidFill>
                <a:latin typeface="Aileron Regular Bold"/>
              </a:rPr>
              <a:t>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460069" y="777021"/>
            <a:ext cx="15221310" cy="61655"/>
          </a:xfrm>
          <a:prstGeom prst="rect">
            <a:avLst/>
          </a:prstGeom>
          <a:solidFill>
            <a:srgbClr val="2C92D5"/>
          </a:solidFill>
        </p:spPr>
      </p:sp>
      <p:sp>
        <p:nvSpPr>
          <p:cNvPr name="TextBox 3" id="3"/>
          <p:cNvSpPr txBox="true"/>
          <p:nvPr/>
        </p:nvSpPr>
        <p:spPr>
          <a:xfrm rot="0">
            <a:off x="2124873" y="2640109"/>
            <a:ext cx="14511758" cy="5699126"/>
          </a:xfrm>
          <a:prstGeom prst="rect">
            <a:avLst/>
          </a:prstGeom>
        </p:spPr>
        <p:txBody>
          <a:bodyPr anchor="t" rtlCol="false" tIns="0" lIns="0" bIns="0" rIns="0">
            <a:spAutoFit/>
          </a:bodyPr>
          <a:lstStyle/>
          <a:p>
            <a:pPr algn="just">
              <a:lnSpc>
                <a:spcPts val="4549"/>
              </a:lnSpc>
            </a:pPr>
            <a:r>
              <a:rPr lang="en-US" sz="3249" spc="162">
                <a:solidFill>
                  <a:srgbClr val="191919"/>
                </a:solidFill>
                <a:latin typeface="Aileron Regular Bold"/>
              </a:rPr>
              <a:t>Definition:</a:t>
            </a:r>
          </a:p>
          <a:p>
            <a:pPr algn="just">
              <a:lnSpc>
                <a:spcPts val="4549"/>
              </a:lnSpc>
            </a:pPr>
          </a:p>
          <a:p>
            <a:pPr algn="just">
              <a:lnSpc>
                <a:spcPts val="4549"/>
              </a:lnSpc>
            </a:pPr>
            <a:r>
              <a:rPr lang="en-US" sz="3249" spc="162">
                <a:solidFill>
                  <a:srgbClr val="191919"/>
                </a:solidFill>
                <a:latin typeface="Aileron Regular"/>
              </a:rPr>
              <a:t>Flotation froth stability refers to the ability of a froth layer to remain stable and not collapse during the flotation process. A stable froth layer is important for the effective separation of minerals in the flotation process.</a:t>
            </a:r>
          </a:p>
          <a:p>
            <a:pPr algn="just">
              <a:lnSpc>
                <a:spcPts val="4549"/>
              </a:lnSpc>
            </a:pPr>
            <a:r>
              <a:rPr lang="en-US" sz="3249" spc="162">
                <a:solidFill>
                  <a:srgbClr val="191919"/>
                </a:solidFill>
                <a:latin typeface="Aileron Regular"/>
              </a:rPr>
              <a:t>The stability of the froth layer is determined by a number of factors, Collapse rate, for example.</a:t>
            </a:r>
          </a:p>
          <a:p>
            <a:pPr algn="just">
              <a:lnSpc>
                <a:spcPts val="4549"/>
              </a:lnSpc>
            </a:pPr>
          </a:p>
          <a:p>
            <a:pPr algn="just">
              <a:lnSpc>
                <a:spcPts val="4549"/>
              </a:lnSpc>
            </a:pPr>
          </a:p>
        </p:txBody>
      </p:sp>
      <p:sp>
        <p:nvSpPr>
          <p:cNvPr name="TextBox 4" id="4"/>
          <p:cNvSpPr txBox="true"/>
          <p:nvPr/>
        </p:nvSpPr>
        <p:spPr>
          <a:xfrm rot="0">
            <a:off x="460069" y="196058"/>
            <a:ext cx="11482608" cy="1204532"/>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FROTH STABILITY</a:t>
            </a:r>
          </a:p>
          <a:p>
            <a:pPr>
              <a:lnSpc>
                <a:spcPts val="4735"/>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435221" y="850210"/>
            <a:ext cx="15221310" cy="61655"/>
          </a:xfrm>
          <a:prstGeom prst="rect">
            <a:avLst/>
          </a:prstGeom>
          <a:solidFill>
            <a:srgbClr val="2C92D5"/>
          </a:solidFill>
        </p:spPr>
      </p:sp>
      <p:sp>
        <p:nvSpPr>
          <p:cNvPr name="TextBox 3" id="3"/>
          <p:cNvSpPr txBox="true"/>
          <p:nvPr/>
        </p:nvSpPr>
        <p:spPr>
          <a:xfrm rot="0">
            <a:off x="1888121" y="3351568"/>
            <a:ext cx="14511758" cy="3984626"/>
          </a:xfrm>
          <a:prstGeom prst="rect">
            <a:avLst/>
          </a:prstGeom>
        </p:spPr>
        <p:txBody>
          <a:bodyPr anchor="t" rtlCol="false" tIns="0" lIns="0" bIns="0" rIns="0">
            <a:spAutoFit/>
          </a:bodyPr>
          <a:lstStyle/>
          <a:p>
            <a:pPr algn="just">
              <a:lnSpc>
                <a:spcPts val="4549"/>
              </a:lnSpc>
            </a:pPr>
            <a:r>
              <a:rPr lang="en-US" sz="3249" spc="162">
                <a:solidFill>
                  <a:srgbClr val="191919"/>
                </a:solidFill>
                <a:latin typeface="Aileron Regular Bold"/>
              </a:rPr>
              <a:t>Stable vs Unstable froth:</a:t>
            </a:r>
          </a:p>
          <a:p>
            <a:pPr algn="just">
              <a:lnSpc>
                <a:spcPts val="4549"/>
              </a:lnSpc>
            </a:pPr>
          </a:p>
          <a:p>
            <a:pPr algn="just">
              <a:lnSpc>
                <a:spcPts val="4549"/>
              </a:lnSpc>
            </a:pPr>
            <a:r>
              <a:rPr lang="en-US" sz="3249" spc="162">
                <a:solidFill>
                  <a:srgbClr val="191919"/>
                </a:solidFill>
                <a:latin typeface="Aileron Regular"/>
              </a:rPr>
              <a:t>A stable froth layer will remain in place for an extended period of time, allowing for the effective separation of the ore particles. An unstable froth layer, on the other hand, will collapse quickly, resulting in reduced efficiency and lower recovery rates.</a:t>
            </a:r>
          </a:p>
          <a:p>
            <a:pPr algn="just">
              <a:lnSpc>
                <a:spcPts val="4549"/>
              </a:lnSpc>
            </a:pPr>
          </a:p>
        </p:txBody>
      </p:sp>
      <p:sp>
        <p:nvSpPr>
          <p:cNvPr name="TextBox 4" id="4"/>
          <p:cNvSpPr txBox="true"/>
          <p:nvPr/>
        </p:nvSpPr>
        <p:spPr>
          <a:xfrm rot="0">
            <a:off x="435221" y="245753"/>
            <a:ext cx="11482608" cy="1204532"/>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FROTH STABILITY</a:t>
            </a:r>
          </a:p>
          <a:p>
            <a:pPr>
              <a:lnSpc>
                <a:spcPts val="4735"/>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422099" y="1019175"/>
            <a:ext cx="15273439" cy="61655"/>
          </a:xfrm>
          <a:prstGeom prst="rect">
            <a:avLst/>
          </a:prstGeom>
          <a:solidFill>
            <a:srgbClr val="2C92D5"/>
          </a:solidFill>
        </p:spPr>
      </p:sp>
      <p:sp>
        <p:nvSpPr>
          <p:cNvPr name="TextBox 3" id="3"/>
          <p:cNvSpPr txBox="true"/>
          <p:nvPr/>
        </p:nvSpPr>
        <p:spPr>
          <a:xfrm rot="0">
            <a:off x="1888121" y="2546350"/>
            <a:ext cx="14511758" cy="5127626"/>
          </a:xfrm>
          <a:prstGeom prst="rect">
            <a:avLst/>
          </a:prstGeom>
        </p:spPr>
        <p:txBody>
          <a:bodyPr anchor="t" rtlCol="false" tIns="0" lIns="0" bIns="0" rIns="0">
            <a:spAutoFit/>
          </a:bodyPr>
          <a:lstStyle/>
          <a:p>
            <a:pPr algn="just">
              <a:lnSpc>
                <a:spcPts val="4549"/>
              </a:lnSpc>
            </a:pPr>
            <a:r>
              <a:rPr lang="en-US" sz="3249" spc="162">
                <a:solidFill>
                  <a:srgbClr val="191919"/>
                </a:solidFill>
                <a:latin typeface="Aileron Regular Bold"/>
              </a:rPr>
              <a:t>Average Intensity:</a:t>
            </a:r>
          </a:p>
          <a:p>
            <a:pPr algn="just">
              <a:lnSpc>
                <a:spcPts val="4549"/>
              </a:lnSpc>
            </a:pPr>
          </a:p>
          <a:p>
            <a:pPr algn="just">
              <a:lnSpc>
                <a:spcPts val="4549"/>
              </a:lnSpc>
            </a:pPr>
            <a:r>
              <a:rPr lang="en-US" sz="3249" spc="162">
                <a:solidFill>
                  <a:srgbClr val="191919"/>
                </a:solidFill>
                <a:latin typeface="Aileron Regular"/>
              </a:rPr>
              <a:t>The average intensity of an image refers to the overall brightness or darkness of the image. It is calculated by summing the intensity values of all the pixels in the image and dividing them by the total number of pixels. The intensity value of a pixel is a measure of the brightness or darkness of that pixel, with higher values corresponding to brighter pixels and lower values corresponding to darker pixels.</a:t>
            </a:r>
          </a:p>
          <a:p>
            <a:pPr algn="just">
              <a:lnSpc>
                <a:spcPts val="4549"/>
              </a:lnSpc>
            </a:pPr>
          </a:p>
        </p:txBody>
      </p:sp>
      <p:sp>
        <p:nvSpPr>
          <p:cNvPr name="TextBox 4" id="4"/>
          <p:cNvSpPr txBox="true"/>
          <p:nvPr/>
        </p:nvSpPr>
        <p:spPr>
          <a:xfrm rot="0">
            <a:off x="422099" y="416909"/>
            <a:ext cx="11482608" cy="1204532"/>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AVERAGE INTENSITY METHOD</a:t>
            </a:r>
          </a:p>
          <a:p>
            <a:pPr>
              <a:lnSpc>
                <a:spcPts val="4735"/>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71332" y="784189"/>
            <a:ext cx="15186557" cy="61655"/>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171332" y="2357763"/>
            <a:ext cx="17945335" cy="6382660"/>
          </a:xfrm>
          <a:prstGeom prst="rect">
            <a:avLst/>
          </a:prstGeom>
        </p:spPr>
      </p:pic>
      <p:sp>
        <p:nvSpPr>
          <p:cNvPr name="TextBox 4" id="4"/>
          <p:cNvSpPr txBox="true"/>
          <p:nvPr/>
        </p:nvSpPr>
        <p:spPr>
          <a:xfrm rot="0">
            <a:off x="171332" y="179733"/>
            <a:ext cx="11482608" cy="1204532"/>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AVERAGE INTENSITY METHOD</a:t>
            </a:r>
          </a:p>
          <a:p>
            <a:pPr>
              <a:lnSpc>
                <a:spcPts val="473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460069" y="853817"/>
            <a:ext cx="15238686" cy="61655"/>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2388216" y="1672512"/>
            <a:ext cx="13511569" cy="7956051"/>
          </a:xfrm>
          <a:prstGeom prst="rect">
            <a:avLst/>
          </a:prstGeom>
        </p:spPr>
      </p:pic>
      <p:sp>
        <p:nvSpPr>
          <p:cNvPr name="TextBox 4" id="4"/>
          <p:cNvSpPr txBox="true"/>
          <p:nvPr/>
        </p:nvSpPr>
        <p:spPr>
          <a:xfrm rot="0">
            <a:off x="460069" y="251551"/>
            <a:ext cx="11482608" cy="1204532"/>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AVERAGE INTENSITY METHOD</a:t>
            </a:r>
          </a:p>
          <a:p>
            <a:pPr>
              <a:lnSpc>
                <a:spcPts val="473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98783" y="672501"/>
            <a:ext cx="8945217" cy="61158"/>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5782053" y="1028700"/>
            <a:ext cx="12216027" cy="3449392"/>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8073603" y="4792417"/>
            <a:ext cx="9185697" cy="5408837"/>
          </a:xfrm>
          <a:prstGeom prst="rect">
            <a:avLst/>
          </a:prstGeom>
        </p:spPr>
      </p:pic>
      <p:sp>
        <p:nvSpPr>
          <p:cNvPr name="TextBox 5" id="5"/>
          <p:cNvSpPr txBox="true"/>
          <p:nvPr/>
        </p:nvSpPr>
        <p:spPr>
          <a:xfrm rot="0">
            <a:off x="198783" y="98376"/>
            <a:ext cx="11482608"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AVERAGE INTENSITY METHOD</a:t>
            </a:r>
          </a:p>
        </p:txBody>
      </p:sp>
      <p:sp>
        <p:nvSpPr>
          <p:cNvPr name="TextBox 6" id="6"/>
          <p:cNvSpPr txBox="true"/>
          <p:nvPr/>
        </p:nvSpPr>
        <p:spPr>
          <a:xfrm rot="0">
            <a:off x="198783" y="5304818"/>
            <a:ext cx="6526867" cy="358076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rPr>
              <a:t>If we average these two consecutive frames, we will get this image.</a:t>
            </a:r>
          </a:p>
          <a:p>
            <a:pPr algn="just">
              <a:lnSpc>
                <a:spcPts val="4759"/>
              </a:lnSpc>
            </a:pPr>
            <a:r>
              <a:rPr lang="en-US" sz="3399">
                <a:solidFill>
                  <a:srgbClr val="000000"/>
                </a:solidFill>
                <a:latin typeface="Canva Sans"/>
              </a:rPr>
              <a:t>Average intensity value: 111.32 because there is no significant difference between the frames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767380"/>
            <a:ext cx="15203933" cy="61655"/>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9376137" y="4957459"/>
            <a:ext cx="8911863" cy="5247594"/>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10624389" y="767380"/>
            <a:ext cx="6901306" cy="4190079"/>
          </a:xfrm>
          <a:prstGeom prst="rect">
            <a:avLst/>
          </a:prstGeom>
        </p:spPr>
      </p:pic>
      <p:sp>
        <p:nvSpPr>
          <p:cNvPr name="TextBox 5" id="5"/>
          <p:cNvSpPr txBox="true"/>
          <p:nvPr/>
        </p:nvSpPr>
        <p:spPr>
          <a:xfrm rot="0">
            <a:off x="323022" y="162923"/>
            <a:ext cx="11482608"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AVERAGE INTENSITY METHOD</a:t>
            </a:r>
          </a:p>
        </p:txBody>
      </p:sp>
      <p:sp>
        <p:nvSpPr>
          <p:cNvPr name="TextBox 6" id="6"/>
          <p:cNvSpPr txBox="true"/>
          <p:nvPr/>
        </p:nvSpPr>
        <p:spPr>
          <a:xfrm rot="0">
            <a:off x="230703" y="2833701"/>
            <a:ext cx="9145434" cy="4180840"/>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rPr>
              <a:t>If we add this third frame, we will get this image.</a:t>
            </a:r>
          </a:p>
          <a:p>
            <a:pPr algn="just">
              <a:lnSpc>
                <a:spcPts val="4759"/>
              </a:lnSpc>
            </a:pPr>
            <a:r>
              <a:rPr lang="en-US" sz="3399">
                <a:solidFill>
                  <a:srgbClr val="000000"/>
                </a:solidFill>
                <a:latin typeface="Canva Sans"/>
              </a:rPr>
              <a:t>Average intensity value: 111.45 because the collapse event is not yet very clear in the average image (we can still see the shadows of the big collapsed bubble) that's why the value did not increase significantly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859120"/>
            <a:ext cx="10842407" cy="61655"/>
          </a:xfrm>
          <a:prstGeom prst="rect">
            <a:avLst/>
          </a:prstGeom>
          <a:solidFill>
            <a:srgbClr val="2C92D5"/>
          </a:solidFill>
        </p:spPr>
      </p:sp>
      <p:pic>
        <p:nvPicPr>
          <p:cNvPr name="Picture 3" id="3"/>
          <p:cNvPicPr>
            <a:picLocks noChangeAspect="true"/>
          </p:cNvPicPr>
          <p:nvPr/>
        </p:nvPicPr>
        <p:blipFill>
          <a:blip r:embed="rId2"/>
          <a:srcRect l="2670" t="0" r="2069" b="5174"/>
          <a:stretch>
            <a:fillRect/>
          </a:stretch>
        </p:blipFill>
        <p:spPr>
          <a:xfrm flipH="false" flipV="false" rot="0">
            <a:off x="11210837" y="964492"/>
            <a:ext cx="6860801" cy="4179008"/>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9299723" y="4994410"/>
            <a:ext cx="8988277" cy="5292590"/>
          </a:xfrm>
          <a:prstGeom prst="rect">
            <a:avLst/>
          </a:prstGeom>
        </p:spPr>
      </p:pic>
      <p:sp>
        <p:nvSpPr>
          <p:cNvPr name="TextBox 5" id="5"/>
          <p:cNvSpPr txBox="true"/>
          <p:nvPr/>
        </p:nvSpPr>
        <p:spPr>
          <a:xfrm rot="0">
            <a:off x="236439" y="210946"/>
            <a:ext cx="11482608"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AVERAGE INTENSITY METHOD</a:t>
            </a:r>
          </a:p>
        </p:txBody>
      </p:sp>
      <p:sp>
        <p:nvSpPr>
          <p:cNvPr name="TextBox 6" id="6"/>
          <p:cNvSpPr txBox="true"/>
          <p:nvPr/>
        </p:nvSpPr>
        <p:spPr>
          <a:xfrm rot="0">
            <a:off x="-1434" y="3170690"/>
            <a:ext cx="9145434" cy="358076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rPr>
              <a:t>By adding a fourth frame, we will get this result.</a:t>
            </a:r>
          </a:p>
          <a:p>
            <a:pPr algn="just">
              <a:lnSpc>
                <a:spcPts val="4759"/>
              </a:lnSpc>
            </a:pPr>
            <a:r>
              <a:rPr lang="en-US" sz="3399">
                <a:solidFill>
                  <a:srgbClr val="000000"/>
                </a:solidFill>
                <a:latin typeface="Canva Sans"/>
              </a:rPr>
              <a:t>The average intensity value bumped up to: 112.61 because the collapse event is completed in the average image, that's why the value did increase.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286192" y="800514"/>
            <a:ext cx="10875498" cy="61645"/>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11161690" y="1008806"/>
            <a:ext cx="6644320" cy="4085144"/>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9498731" y="5093950"/>
            <a:ext cx="8988051" cy="5292457"/>
          </a:xfrm>
          <a:prstGeom prst="rect">
            <a:avLst/>
          </a:prstGeom>
        </p:spPr>
      </p:pic>
      <p:sp>
        <p:nvSpPr>
          <p:cNvPr name="TextBox 5" id="5"/>
          <p:cNvSpPr txBox="true"/>
          <p:nvPr/>
        </p:nvSpPr>
        <p:spPr>
          <a:xfrm rot="0">
            <a:off x="286192" y="196058"/>
            <a:ext cx="11482608" cy="1204532"/>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AVERAGE INTENSITY METHOD</a:t>
            </a:r>
          </a:p>
          <a:p>
            <a:pPr>
              <a:lnSpc>
                <a:spcPts val="4735"/>
              </a:lnSpc>
            </a:pPr>
          </a:p>
        </p:txBody>
      </p:sp>
      <p:sp>
        <p:nvSpPr>
          <p:cNvPr name="TextBox 6" id="6"/>
          <p:cNvSpPr txBox="true"/>
          <p:nvPr/>
        </p:nvSpPr>
        <p:spPr>
          <a:xfrm rot="0">
            <a:off x="286192" y="3362960"/>
            <a:ext cx="9145434" cy="1780540"/>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rPr>
              <a:t>The same thing when adding the fifth frame,  the value increased to 113.36 because the average image became blurry. </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310982" y="873057"/>
            <a:ext cx="14839193" cy="66692"/>
          </a:xfrm>
          <a:prstGeom prst="rect">
            <a:avLst/>
          </a:prstGeom>
          <a:solidFill>
            <a:srgbClr val="2C92D5"/>
          </a:solidFill>
        </p:spPr>
      </p:sp>
      <p:sp>
        <p:nvSpPr>
          <p:cNvPr name="TextBox 3" id="3"/>
          <p:cNvSpPr txBox="true"/>
          <p:nvPr/>
        </p:nvSpPr>
        <p:spPr>
          <a:xfrm rot="0">
            <a:off x="310982" y="243890"/>
            <a:ext cx="12765567" cy="1204532"/>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APPLYING THE METHOD  TO THE FIRST VIDEO</a:t>
            </a:r>
          </a:p>
          <a:p>
            <a:pPr>
              <a:lnSpc>
                <a:spcPts val="4735"/>
              </a:lnSpc>
            </a:pPr>
          </a:p>
        </p:txBody>
      </p:sp>
      <p:sp>
        <p:nvSpPr>
          <p:cNvPr name="TextBox 4" id="4"/>
          <p:cNvSpPr txBox="true"/>
          <p:nvPr/>
        </p:nvSpPr>
        <p:spPr>
          <a:xfrm rot="0">
            <a:off x="1888121" y="2261360"/>
            <a:ext cx="14511758" cy="4556126"/>
          </a:xfrm>
          <a:prstGeom prst="rect">
            <a:avLst/>
          </a:prstGeom>
        </p:spPr>
        <p:txBody>
          <a:bodyPr anchor="t" rtlCol="false" tIns="0" lIns="0" bIns="0" rIns="0">
            <a:spAutoFit/>
          </a:bodyPr>
          <a:lstStyle/>
          <a:p>
            <a:pPr algn="just">
              <a:lnSpc>
                <a:spcPts val="4549"/>
              </a:lnSpc>
            </a:pPr>
            <a:r>
              <a:rPr lang="en-US" sz="3249" spc="162">
                <a:solidFill>
                  <a:srgbClr val="191919"/>
                </a:solidFill>
                <a:latin typeface="Aileron Regular Bold"/>
              </a:rPr>
              <a:t>Video Information:</a:t>
            </a:r>
          </a:p>
          <a:p>
            <a:pPr algn="just">
              <a:lnSpc>
                <a:spcPts val="4549"/>
              </a:lnSpc>
            </a:pPr>
          </a:p>
          <a:p>
            <a:pPr algn="just">
              <a:lnSpc>
                <a:spcPts val="4549"/>
              </a:lnSpc>
            </a:pPr>
            <a:r>
              <a:rPr lang="en-US" sz="3249" spc="162">
                <a:solidFill>
                  <a:srgbClr val="191919"/>
                </a:solidFill>
                <a:latin typeface="Aileron Regular"/>
              </a:rPr>
              <a:t>Fps: 30</a:t>
            </a:r>
          </a:p>
          <a:p>
            <a:pPr algn="just">
              <a:lnSpc>
                <a:spcPts val="4549"/>
              </a:lnSpc>
            </a:pPr>
            <a:r>
              <a:rPr lang="en-US" sz="3249" spc="162">
                <a:solidFill>
                  <a:srgbClr val="191919"/>
                </a:solidFill>
                <a:latin typeface="Aileron Regular"/>
              </a:rPr>
              <a:t>Length: 31 seconds</a:t>
            </a:r>
          </a:p>
          <a:p>
            <a:pPr algn="just">
              <a:lnSpc>
                <a:spcPts val="4549"/>
              </a:lnSpc>
            </a:pPr>
            <a:r>
              <a:rPr lang="en-US" sz="3249" spc="162">
                <a:solidFill>
                  <a:srgbClr val="191919"/>
                </a:solidFill>
                <a:latin typeface="Aileron Regular"/>
              </a:rPr>
              <a:t>Frames in total: 938</a:t>
            </a:r>
          </a:p>
          <a:p>
            <a:pPr algn="just">
              <a:lnSpc>
                <a:spcPts val="4549"/>
              </a:lnSpc>
            </a:pPr>
          </a:p>
          <a:p>
            <a:pPr algn="just">
              <a:lnSpc>
                <a:spcPts val="4549"/>
              </a:lnSpc>
            </a:pPr>
            <a:r>
              <a:rPr lang="en-US" sz="3249" spc="162">
                <a:solidFill>
                  <a:srgbClr val="191919"/>
                </a:solidFill>
                <a:latin typeface="Aileron Regular"/>
              </a:rPr>
              <a:t>We average 5 frames, and we take the average intensity. As a result, we have 187 values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2711966" y="810657"/>
            <a:ext cx="13531800" cy="4682760"/>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2609876" y="5493418"/>
            <a:ext cx="13500830" cy="4549006"/>
          </a:xfrm>
          <a:prstGeom prst="rect">
            <a:avLst/>
          </a:prstGeom>
        </p:spPr>
      </p:pic>
      <p:pic>
        <p:nvPicPr>
          <p:cNvPr name="Picture 4" id="4"/>
          <p:cNvPicPr>
            <a:picLocks noChangeAspect="true"/>
          </p:cNvPicPr>
          <p:nvPr/>
        </p:nvPicPr>
        <p:blipFill>
          <a:blip r:embed="rId4"/>
          <a:srcRect l="0" t="0" r="0" b="0"/>
          <a:stretch>
            <a:fillRect/>
          </a:stretch>
        </p:blipFill>
        <p:spPr>
          <a:xfrm flipH="false" flipV="false" rot="0">
            <a:off x="7378282" y="3649050"/>
            <a:ext cx="472013" cy="285568"/>
          </a:xfrm>
          <a:prstGeom prst="rect">
            <a:avLst/>
          </a:prstGeom>
        </p:spPr>
      </p:pic>
      <p:sp>
        <p:nvSpPr>
          <p:cNvPr name="TextBox 5" id="5"/>
          <p:cNvSpPr txBox="true"/>
          <p:nvPr/>
        </p:nvSpPr>
        <p:spPr>
          <a:xfrm rot="0">
            <a:off x="405542" y="254572"/>
            <a:ext cx="9841433" cy="470361"/>
          </a:xfrm>
          <a:prstGeom prst="rect">
            <a:avLst/>
          </a:prstGeom>
        </p:spPr>
        <p:txBody>
          <a:bodyPr anchor="t" rtlCol="false" tIns="0" lIns="0" bIns="0" rIns="0">
            <a:spAutoFit/>
          </a:bodyPr>
          <a:lstStyle/>
          <a:p>
            <a:pPr>
              <a:lnSpc>
                <a:spcPts val="3650"/>
              </a:lnSpc>
            </a:pPr>
            <a:r>
              <a:rPr lang="en-US" sz="2968" spc="178">
                <a:solidFill>
                  <a:srgbClr val="2C92D5"/>
                </a:solidFill>
                <a:latin typeface="Aileron Heavy Bold"/>
              </a:rPr>
              <a:t>APPLYING THE METHOD  TO THE FIRST VIDEO</a:t>
            </a:r>
          </a:p>
        </p:txBody>
      </p:sp>
      <p:pic>
        <p:nvPicPr>
          <p:cNvPr name="Picture 6" id="6"/>
          <p:cNvPicPr>
            <a:picLocks noChangeAspect="true"/>
          </p:cNvPicPr>
          <p:nvPr/>
        </p:nvPicPr>
        <p:blipFill>
          <a:blip r:embed="rId4"/>
          <a:srcRect l="0" t="0" r="0" b="0"/>
          <a:stretch>
            <a:fillRect/>
          </a:stretch>
        </p:blipFill>
        <p:spPr>
          <a:xfrm flipH="false" flipV="false" rot="0">
            <a:off x="7459693" y="1822642"/>
            <a:ext cx="472013" cy="285568"/>
          </a:xfrm>
          <a:prstGeom prst="rect">
            <a:avLst/>
          </a:prstGeom>
        </p:spPr>
      </p:pic>
      <p:pic>
        <p:nvPicPr>
          <p:cNvPr name="Picture 7" id="7"/>
          <p:cNvPicPr>
            <a:picLocks noChangeAspect="true"/>
          </p:cNvPicPr>
          <p:nvPr/>
        </p:nvPicPr>
        <p:blipFill>
          <a:blip r:embed="rId4"/>
          <a:srcRect l="0" t="0" r="0" b="0"/>
          <a:stretch>
            <a:fillRect/>
          </a:stretch>
        </p:blipFill>
        <p:spPr>
          <a:xfrm flipH="false" flipV="false" rot="0">
            <a:off x="4357720" y="4016566"/>
            <a:ext cx="472013" cy="285568"/>
          </a:xfrm>
          <a:prstGeom prst="rect">
            <a:avLst/>
          </a:prstGeom>
        </p:spPr>
      </p:pic>
      <p:pic>
        <p:nvPicPr>
          <p:cNvPr name="Picture 8" id="8"/>
          <p:cNvPicPr>
            <a:picLocks noChangeAspect="true"/>
          </p:cNvPicPr>
          <p:nvPr/>
        </p:nvPicPr>
        <p:blipFill>
          <a:blip r:embed="rId4"/>
          <a:srcRect l="0" t="0" r="0" b="0"/>
          <a:stretch>
            <a:fillRect/>
          </a:stretch>
        </p:blipFill>
        <p:spPr>
          <a:xfrm flipH="false" flipV="false" rot="0">
            <a:off x="4510120" y="2053659"/>
            <a:ext cx="472013" cy="285568"/>
          </a:xfrm>
          <a:prstGeom prst="rect">
            <a:avLst/>
          </a:prstGeom>
        </p:spPr>
      </p:pic>
      <p:pic>
        <p:nvPicPr>
          <p:cNvPr name="Picture 9" id="9"/>
          <p:cNvPicPr>
            <a:picLocks noChangeAspect="true"/>
          </p:cNvPicPr>
          <p:nvPr/>
        </p:nvPicPr>
        <p:blipFill>
          <a:blip r:embed="rId4"/>
          <a:srcRect l="0" t="0" r="0" b="0"/>
          <a:stretch>
            <a:fillRect/>
          </a:stretch>
        </p:blipFill>
        <p:spPr>
          <a:xfrm flipH="false" flipV="false" rot="0">
            <a:off x="11892737" y="8069726"/>
            <a:ext cx="472013" cy="285568"/>
          </a:xfrm>
          <a:prstGeom prst="rect">
            <a:avLst/>
          </a:prstGeom>
        </p:spPr>
      </p:pic>
      <p:pic>
        <p:nvPicPr>
          <p:cNvPr name="Picture 10" id="10"/>
          <p:cNvPicPr>
            <a:picLocks noChangeAspect="true"/>
          </p:cNvPicPr>
          <p:nvPr/>
        </p:nvPicPr>
        <p:blipFill>
          <a:blip r:embed="rId4"/>
          <a:srcRect l="0" t="0" r="0" b="0"/>
          <a:stretch>
            <a:fillRect/>
          </a:stretch>
        </p:blipFill>
        <p:spPr>
          <a:xfrm flipH="false" flipV="false" rot="0">
            <a:off x="12128743" y="6300004"/>
            <a:ext cx="472013" cy="285568"/>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242539" y="2647568"/>
            <a:ext cx="18045461" cy="5203704"/>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9006147" y="6958686"/>
            <a:ext cx="1475347" cy="892585"/>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16453855" y="3615042"/>
            <a:ext cx="1834145" cy="1109658"/>
          </a:xfrm>
          <a:prstGeom prst="rect">
            <a:avLst/>
          </a:prstGeom>
        </p:spPr>
      </p:pic>
      <p:sp>
        <p:nvSpPr>
          <p:cNvPr name="TextBox 5" id="5"/>
          <p:cNvSpPr txBox="true"/>
          <p:nvPr/>
        </p:nvSpPr>
        <p:spPr>
          <a:xfrm rot="0">
            <a:off x="1473998" y="95720"/>
            <a:ext cx="9841433" cy="470361"/>
          </a:xfrm>
          <a:prstGeom prst="rect">
            <a:avLst/>
          </a:prstGeom>
        </p:spPr>
        <p:txBody>
          <a:bodyPr anchor="t" rtlCol="false" tIns="0" lIns="0" bIns="0" rIns="0">
            <a:spAutoFit/>
          </a:bodyPr>
          <a:lstStyle/>
          <a:p>
            <a:pPr>
              <a:lnSpc>
                <a:spcPts val="3650"/>
              </a:lnSpc>
            </a:pPr>
            <a:r>
              <a:rPr lang="en-US" sz="2968" spc="178">
                <a:solidFill>
                  <a:srgbClr val="2C92D5"/>
                </a:solidFill>
                <a:latin typeface="Aileron Heavy Bold"/>
              </a:rPr>
              <a:t>APPLYING THE METHOD  TO THE FIRST VIDEO</a:t>
            </a:r>
          </a:p>
        </p:txBody>
      </p:sp>
      <p:sp>
        <p:nvSpPr>
          <p:cNvPr name="TextBox 6" id="6"/>
          <p:cNvSpPr txBox="true"/>
          <p:nvPr/>
        </p:nvSpPr>
        <p:spPr>
          <a:xfrm rot="0">
            <a:off x="5573020" y="1094934"/>
            <a:ext cx="3490754" cy="523875"/>
          </a:xfrm>
          <a:prstGeom prst="rect">
            <a:avLst/>
          </a:prstGeom>
        </p:spPr>
        <p:txBody>
          <a:bodyPr anchor="t" rtlCol="false" tIns="0" lIns="0" bIns="0" rIns="0">
            <a:spAutoFit/>
          </a:bodyPr>
          <a:lstStyle/>
          <a:p>
            <a:pPr algn="ctr">
              <a:lnSpc>
                <a:spcPts val="4200"/>
              </a:lnSpc>
              <a:spcBef>
                <a:spcPct val="0"/>
              </a:spcBef>
            </a:pPr>
            <a:r>
              <a:rPr lang="en-US" sz="3000">
                <a:solidFill>
                  <a:srgbClr val="2C92D5"/>
                </a:solidFill>
                <a:latin typeface="Aileron Regular"/>
              </a:rPr>
              <a:t> For indexes  8 and 9</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80682" y="3083784"/>
            <a:ext cx="17966183" cy="5082245"/>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3511176" y="6782463"/>
            <a:ext cx="1475347" cy="892585"/>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3738875" y="3374737"/>
            <a:ext cx="1834145" cy="1109658"/>
          </a:xfrm>
          <a:prstGeom prst="rect">
            <a:avLst/>
          </a:prstGeom>
        </p:spPr>
      </p:pic>
      <p:sp>
        <p:nvSpPr>
          <p:cNvPr name="TextBox 5" id="5"/>
          <p:cNvSpPr txBox="true"/>
          <p:nvPr/>
        </p:nvSpPr>
        <p:spPr>
          <a:xfrm rot="0">
            <a:off x="1473998" y="95720"/>
            <a:ext cx="9841433" cy="470361"/>
          </a:xfrm>
          <a:prstGeom prst="rect">
            <a:avLst/>
          </a:prstGeom>
        </p:spPr>
        <p:txBody>
          <a:bodyPr anchor="t" rtlCol="false" tIns="0" lIns="0" bIns="0" rIns="0">
            <a:spAutoFit/>
          </a:bodyPr>
          <a:lstStyle/>
          <a:p>
            <a:pPr>
              <a:lnSpc>
                <a:spcPts val="3650"/>
              </a:lnSpc>
            </a:pPr>
            <a:r>
              <a:rPr lang="en-US" sz="2968" spc="178">
                <a:solidFill>
                  <a:srgbClr val="2C92D5"/>
                </a:solidFill>
                <a:latin typeface="Aileron Heavy Bold"/>
              </a:rPr>
              <a:t>APPLYING THE METHOD  TO THE FIRST VIDEO</a:t>
            </a:r>
          </a:p>
        </p:txBody>
      </p:sp>
      <p:sp>
        <p:nvSpPr>
          <p:cNvPr name="TextBox 6" id="6"/>
          <p:cNvSpPr txBox="true"/>
          <p:nvPr/>
        </p:nvSpPr>
        <p:spPr>
          <a:xfrm rot="0">
            <a:off x="5131060" y="1094934"/>
            <a:ext cx="4374674" cy="523875"/>
          </a:xfrm>
          <a:prstGeom prst="rect">
            <a:avLst/>
          </a:prstGeom>
        </p:spPr>
        <p:txBody>
          <a:bodyPr anchor="t" rtlCol="false" tIns="0" lIns="0" bIns="0" rIns="0">
            <a:spAutoFit/>
          </a:bodyPr>
          <a:lstStyle/>
          <a:p>
            <a:pPr algn="ctr">
              <a:lnSpc>
                <a:spcPts val="4200"/>
              </a:lnSpc>
              <a:spcBef>
                <a:spcPct val="0"/>
              </a:spcBef>
            </a:pPr>
            <a:r>
              <a:rPr lang="en-US" sz="3000">
                <a:solidFill>
                  <a:srgbClr val="2C92D5"/>
                </a:solidFill>
                <a:latin typeface="Aileron Regular"/>
              </a:rPr>
              <a:t> For indexes  160 and 161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225896" y="2502953"/>
            <a:ext cx="8812068" cy="4180182"/>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3106313" y="1028700"/>
            <a:ext cx="12960760" cy="820098"/>
          </a:xfrm>
          <a:prstGeom prst="rect">
            <a:avLst/>
          </a:prstGeom>
        </p:spPr>
      </p:pic>
      <p:pic>
        <p:nvPicPr>
          <p:cNvPr name="Picture 4" id="4"/>
          <p:cNvPicPr>
            <a:picLocks noChangeAspect="true"/>
          </p:cNvPicPr>
          <p:nvPr/>
        </p:nvPicPr>
        <p:blipFill>
          <a:blip r:embed="rId4"/>
          <a:srcRect l="0" t="0" r="0" b="0"/>
          <a:stretch>
            <a:fillRect/>
          </a:stretch>
        </p:blipFill>
        <p:spPr>
          <a:xfrm flipH="false" flipV="false" rot="0">
            <a:off x="9144000" y="2315523"/>
            <a:ext cx="8863448" cy="4555041"/>
          </a:xfrm>
          <a:prstGeom prst="rect">
            <a:avLst/>
          </a:prstGeom>
        </p:spPr>
      </p:pic>
      <p:sp>
        <p:nvSpPr>
          <p:cNvPr name="TextBox 5" id="5"/>
          <p:cNvSpPr txBox="true"/>
          <p:nvPr/>
        </p:nvSpPr>
        <p:spPr>
          <a:xfrm rot="0">
            <a:off x="1473998" y="95720"/>
            <a:ext cx="9841433" cy="470361"/>
          </a:xfrm>
          <a:prstGeom prst="rect">
            <a:avLst/>
          </a:prstGeom>
        </p:spPr>
        <p:txBody>
          <a:bodyPr anchor="t" rtlCol="false" tIns="0" lIns="0" bIns="0" rIns="0">
            <a:spAutoFit/>
          </a:bodyPr>
          <a:lstStyle/>
          <a:p>
            <a:pPr>
              <a:lnSpc>
                <a:spcPts val="3650"/>
              </a:lnSpc>
            </a:pPr>
            <a:r>
              <a:rPr lang="en-US" sz="2968" spc="178">
                <a:solidFill>
                  <a:srgbClr val="2C92D5"/>
                </a:solidFill>
                <a:latin typeface="Aileron Heavy Bold"/>
              </a:rPr>
              <a:t>APPLYING THE METHOD  TO THE FIRST VIDEO</a:t>
            </a:r>
          </a:p>
        </p:txBody>
      </p:sp>
      <p:sp>
        <p:nvSpPr>
          <p:cNvPr name="TextBox 6" id="6"/>
          <p:cNvSpPr txBox="true"/>
          <p:nvPr/>
        </p:nvSpPr>
        <p:spPr>
          <a:xfrm rot="0">
            <a:off x="312779" y="7698305"/>
            <a:ext cx="17662442" cy="815339"/>
          </a:xfrm>
          <a:prstGeom prst="rect">
            <a:avLst/>
          </a:prstGeom>
        </p:spPr>
        <p:txBody>
          <a:bodyPr anchor="t" rtlCol="false" tIns="0" lIns="0" bIns="0" rIns="0">
            <a:spAutoFit/>
          </a:bodyPr>
          <a:lstStyle/>
          <a:p>
            <a:pPr algn="just">
              <a:lnSpc>
                <a:spcPts val="3360"/>
              </a:lnSpc>
            </a:pPr>
            <a:r>
              <a:rPr lang="en-US" sz="2400">
                <a:solidFill>
                  <a:srgbClr val="191919"/>
                </a:solidFill>
                <a:latin typeface="Canva Sans"/>
              </a:rPr>
              <a:t>The majority of values are between 115 and 120, For this video we can see that variance is high wish gives us an idea how the froth is behaving (High velocity or instability)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2188186" y="2585166"/>
            <a:ext cx="13911628" cy="7004885"/>
          </a:xfrm>
          <a:prstGeom prst="rect">
            <a:avLst/>
          </a:prstGeom>
        </p:spPr>
      </p:pic>
      <p:sp>
        <p:nvSpPr>
          <p:cNvPr name="TextBox 3" id="3"/>
          <p:cNvSpPr txBox="true"/>
          <p:nvPr/>
        </p:nvSpPr>
        <p:spPr>
          <a:xfrm rot="0">
            <a:off x="1473998" y="95720"/>
            <a:ext cx="9841433" cy="470361"/>
          </a:xfrm>
          <a:prstGeom prst="rect">
            <a:avLst/>
          </a:prstGeom>
        </p:spPr>
        <p:txBody>
          <a:bodyPr anchor="t" rtlCol="false" tIns="0" lIns="0" bIns="0" rIns="0">
            <a:spAutoFit/>
          </a:bodyPr>
          <a:lstStyle/>
          <a:p>
            <a:pPr>
              <a:lnSpc>
                <a:spcPts val="3650"/>
              </a:lnSpc>
            </a:pPr>
            <a:r>
              <a:rPr lang="en-US" sz="2968" spc="178">
                <a:solidFill>
                  <a:srgbClr val="2C92D5"/>
                </a:solidFill>
                <a:latin typeface="Aileron Heavy Bold"/>
              </a:rPr>
              <a:t>APPLYING THE METHOD  TO THE FIRST VIDEO</a:t>
            </a:r>
          </a:p>
        </p:txBody>
      </p:sp>
      <p:sp>
        <p:nvSpPr>
          <p:cNvPr name="TextBox 4" id="4"/>
          <p:cNvSpPr txBox="true"/>
          <p:nvPr/>
        </p:nvSpPr>
        <p:spPr>
          <a:xfrm rot="0">
            <a:off x="969663" y="1272890"/>
            <a:ext cx="16289637" cy="8153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rPr>
              <a:t>Another representation of our data, is to calculate differences between a value and the next one, the values with a big difference means that the froth isn't stable. </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2124873" y="1247775"/>
            <a:ext cx="15134427" cy="9525"/>
          </a:xfrm>
          <a:prstGeom prst="rect">
            <a:avLst/>
          </a:prstGeom>
          <a:solidFill>
            <a:srgbClr val="2C92D5"/>
          </a:solidFill>
        </p:spPr>
      </p:sp>
      <p:sp>
        <p:nvSpPr>
          <p:cNvPr name="TextBox 3" id="3"/>
          <p:cNvSpPr txBox="true"/>
          <p:nvPr/>
        </p:nvSpPr>
        <p:spPr>
          <a:xfrm rot="0">
            <a:off x="2124873" y="643318"/>
            <a:ext cx="14127294" cy="1204532"/>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APPLYING THE METHOD  TO THE SECOND VIDEO</a:t>
            </a:r>
          </a:p>
          <a:p>
            <a:pPr>
              <a:lnSpc>
                <a:spcPts val="4735"/>
              </a:lnSpc>
            </a:pPr>
          </a:p>
        </p:txBody>
      </p:sp>
      <p:sp>
        <p:nvSpPr>
          <p:cNvPr name="TextBox 4" id="4"/>
          <p:cNvSpPr txBox="true"/>
          <p:nvPr/>
        </p:nvSpPr>
        <p:spPr>
          <a:xfrm rot="0">
            <a:off x="1888121" y="1391686"/>
            <a:ext cx="14511758" cy="4556126"/>
          </a:xfrm>
          <a:prstGeom prst="rect">
            <a:avLst/>
          </a:prstGeom>
        </p:spPr>
        <p:txBody>
          <a:bodyPr anchor="t" rtlCol="false" tIns="0" lIns="0" bIns="0" rIns="0">
            <a:spAutoFit/>
          </a:bodyPr>
          <a:lstStyle/>
          <a:p>
            <a:pPr algn="just">
              <a:lnSpc>
                <a:spcPts val="4549"/>
              </a:lnSpc>
            </a:pPr>
            <a:r>
              <a:rPr lang="en-US" sz="3249" spc="162">
                <a:solidFill>
                  <a:srgbClr val="191919"/>
                </a:solidFill>
                <a:latin typeface="Aileron Regular Bold"/>
              </a:rPr>
              <a:t>Video Information:</a:t>
            </a:r>
          </a:p>
          <a:p>
            <a:pPr algn="just">
              <a:lnSpc>
                <a:spcPts val="4549"/>
              </a:lnSpc>
            </a:pPr>
          </a:p>
          <a:p>
            <a:pPr algn="just">
              <a:lnSpc>
                <a:spcPts val="4549"/>
              </a:lnSpc>
            </a:pPr>
            <a:r>
              <a:rPr lang="en-US" sz="3249" spc="162">
                <a:solidFill>
                  <a:srgbClr val="191919"/>
                </a:solidFill>
                <a:latin typeface="Aileron Regular"/>
              </a:rPr>
              <a:t>Fps: 30</a:t>
            </a:r>
          </a:p>
          <a:p>
            <a:pPr algn="just">
              <a:lnSpc>
                <a:spcPts val="4549"/>
              </a:lnSpc>
            </a:pPr>
            <a:r>
              <a:rPr lang="en-US" sz="3249" spc="162">
                <a:solidFill>
                  <a:srgbClr val="191919"/>
                </a:solidFill>
                <a:latin typeface="Aileron Regular"/>
              </a:rPr>
              <a:t>Length: 29 seconds</a:t>
            </a:r>
          </a:p>
          <a:p>
            <a:pPr algn="just">
              <a:lnSpc>
                <a:spcPts val="4549"/>
              </a:lnSpc>
            </a:pPr>
            <a:r>
              <a:rPr lang="en-US" sz="3249" spc="162">
                <a:solidFill>
                  <a:srgbClr val="191919"/>
                </a:solidFill>
                <a:latin typeface="Aileron Regular"/>
              </a:rPr>
              <a:t>Frames in total: 898</a:t>
            </a:r>
          </a:p>
          <a:p>
            <a:pPr algn="just">
              <a:lnSpc>
                <a:spcPts val="4549"/>
              </a:lnSpc>
            </a:pPr>
          </a:p>
          <a:p>
            <a:pPr algn="just">
              <a:lnSpc>
                <a:spcPts val="4549"/>
              </a:lnSpc>
            </a:pPr>
            <a:r>
              <a:rPr lang="en-US" sz="3249" spc="162">
                <a:solidFill>
                  <a:srgbClr val="191919"/>
                </a:solidFill>
                <a:latin typeface="Aileron Regular"/>
              </a:rPr>
              <a:t>We average 5 frames, and we take the average intensity. As a result, we have 179 values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3424995" y="612211"/>
            <a:ext cx="13834305" cy="4867957"/>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1028700" y="5734339"/>
            <a:ext cx="13623945" cy="4552661"/>
          </a:xfrm>
          <a:prstGeom prst="rect">
            <a:avLst/>
          </a:prstGeom>
        </p:spPr>
      </p:pic>
      <p:sp>
        <p:nvSpPr>
          <p:cNvPr name="TextBox 4" id="4"/>
          <p:cNvSpPr txBox="true"/>
          <p:nvPr/>
        </p:nvSpPr>
        <p:spPr>
          <a:xfrm rot="0">
            <a:off x="715085" y="188254"/>
            <a:ext cx="10001261" cy="423957"/>
          </a:xfrm>
          <a:prstGeom prst="rect">
            <a:avLst/>
          </a:prstGeom>
        </p:spPr>
        <p:txBody>
          <a:bodyPr anchor="t" rtlCol="false" tIns="0" lIns="0" bIns="0" rIns="0">
            <a:spAutoFit/>
          </a:bodyPr>
          <a:lstStyle/>
          <a:p>
            <a:pPr>
              <a:lnSpc>
                <a:spcPts val="3352"/>
              </a:lnSpc>
            </a:pPr>
            <a:r>
              <a:rPr lang="en-US" sz="2725" spc="163">
                <a:solidFill>
                  <a:srgbClr val="2C92D5"/>
                </a:solidFill>
                <a:latin typeface="Aileron Heavy Bold"/>
              </a:rPr>
              <a:t>APPLYING THE METHOD  TO THE SECOND VIDEO</a:t>
            </a:r>
          </a:p>
        </p:txBody>
      </p:sp>
      <p:pic>
        <p:nvPicPr>
          <p:cNvPr name="Picture 5" id="5"/>
          <p:cNvPicPr>
            <a:picLocks noChangeAspect="true"/>
          </p:cNvPicPr>
          <p:nvPr/>
        </p:nvPicPr>
        <p:blipFill>
          <a:blip r:embed="rId4"/>
          <a:srcRect l="0" t="0" r="0" b="0"/>
          <a:stretch>
            <a:fillRect/>
          </a:stretch>
        </p:blipFill>
        <p:spPr>
          <a:xfrm flipH="false" flipV="false" rot="0">
            <a:off x="7226675" y="3868799"/>
            <a:ext cx="472013" cy="285568"/>
          </a:xfrm>
          <a:prstGeom prst="rect">
            <a:avLst/>
          </a:prstGeom>
        </p:spPr>
      </p:pic>
      <p:pic>
        <p:nvPicPr>
          <p:cNvPr name="Picture 6" id="6"/>
          <p:cNvPicPr>
            <a:picLocks noChangeAspect="true"/>
          </p:cNvPicPr>
          <p:nvPr/>
        </p:nvPicPr>
        <p:blipFill>
          <a:blip r:embed="rId4"/>
          <a:srcRect l="0" t="0" r="0" b="0"/>
          <a:stretch>
            <a:fillRect/>
          </a:stretch>
        </p:blipFill>
        <p:spPr>
          <a:xfrm flipH="false" flipV="false" rot="0">
            <a:off x="7299772" y="2097331"/>
            <a:ext cx="472013" cy="285568"/>
          </a:xfrm>
          <a:prstGeom prst="rect">
            <a:avLst/>
          </a:prstGeom>
        </p:spPr>
      </p:pic>
      <p:pic>
        <p:nvPicPr>
          <p:cNvPr name="Picture 7" id="7"/>
          <p:cNvPicPr>
            <a:picLocks noChangeAspect="true"/>
          </p:cNvPicPr>
          <p:nvPr/>
        </p:nvPicPr>
        <p:blipFill>
          <a:blip r:embed="rId4"/>
          <a:srcRect l="0" t="0" r="0" b="0"/>
          <a:stretch>
            <a:fillRect/>
          </a:stretch>
        </p:blipFill>
        <p:spPr>
          <a:xfrm flipH="false" flipV="false" rot="0">
            <a:off x="7771785" y="5844262"/>
            <a:ext cx="472013" cy="285568"/>
          </a:xfrm>
          <a:prstGeom prst="rect">
            <a:avLst/>
          </a:prstGeom>
        </p:spPr>
      </p:pic>
      <p:pic>
        <p:nvPicPr>
          <p:cNvPr name="Picture 8" id="8"/>
          <p:cNvPicPr>
            <a:picLocks noChangeAspect="true"/>
          </p:cNvPicPr>
          <p:nvPr/>
        </p:nvPicPr>
        <p:blipFill>
          <a:blip r:embed="rId4"/>
          <a:srcRect l="0" t="0" r="0" b="0"/>
          <a:stretch>
            <a:fillRect/>
          </a:stretch>
        </p:blipFill>
        <p:spPr>
          <a:xfrm flipH="false" flipV="false" rot="0">
            <a:off x="7922597" y="7021893"/>
            <a:ext cx="472013" cy="285568"/>
          </a:xfrm>
          <a:prstGeom prst="rect">
            <a:avLst/>
          </a:prstGeom>
        </p:spPr>
      </p:pic>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579773" y="2921394"/>
            <a:ext cx="16920647" cy="6038595"/>
          </a:xfrm>
          <a:prstGeom prst="rect">
            <a:avLst/>
          </a:prstGeom>
        </p:spPr>
      </p:pic>
      <p:sp>
        <p:nvSpPr>
          <p:cNvPr name="TextBox 3" id="3"/>
          <p:cNvSpPr txBox="true"/>
          <p:nvPr/>
        </p:nvSpPr>
        <p:spPr>
          <a:xfrm rot="0">
            <a:off x="715085" y="188254"/>
            <a:ext cx="10001261" cy="423957"/>
          </a:xfrm>
          <a:prstGeom prst="rect">
            <a:avLst/>
          </a:prstGeom>
        </p:spPr>
        <p:txBody>
          <a:bodyPr anchor="t" rtlCol="false" tIns="0" lIns="0" bIns="0" rIns="0">
            <a:spAutoFit/>
          </a:bodyPr>
          <a:lstStyle/>
          <a:p>
            <a:pPr>
              <a:lnSpc>
                <a:spcPts val="3352"/>
              </a:lnSpc>
            </a:pPr>
            <a:r>
              <a:rPr lang="en-US" sz="2725" spc="163">
                <a:solidFill>
                  <a:srgbClr val="2C92D5"/>
                </a:solidFill>
                <a:latin typeface="Aileron Heavy Bold"/>
              </a:rPr>
              <a:t>APPLYING THE METHOD  TO THE SECOND VIDEO</a:t>
            </a:r>
          </a:p>
        </p:txBody>
      </p:sp>
      <p:pic>
        <p:nvPicPr>
          <p:cNvPr name="Picture 4" id="4"/>
          <p:cNvPicPr>
            <a:picLocks noChangeAspect="true"/>
          </p:cNvPicPr>
          <p:nvPr/>
        </p:nvPicPr>
        <p:blipFill>
          <a:blip r:embed="rId3"/>
          <a:srcRect l="0" t="0" r="0" b="0"/>
          <a:stretch>
            <a:fillRect/>
          </a:stretch>
        </p:blipFill>
        <p:spPr>
          <a:xfrm flipH="false" flipV="false" rot="0">
            <a:off x="4356843" y="3094934"/>
            <a:ext cx="1550357" cy="937966"/>
          </a:xfrm>
          <a:prstGeom prst="rect">
            <a:avLst/>
          </a:prstGeom>
        </p:spPr>
      </p:pic>
      <p:pic>
        <p:nvPicPr>
          <p:cNvPr name="Picture 5" id="5"/>
          <p:cNvPicPr>
            <a:picLocks noChangeAspect="true"/>
          </p:cNvPicPr>
          <p:nvPr/>
        </p:nvPicPr>
        <p:blipFill>
          <a:blip r:embed="rId3"/>
          <a:srcRect l="0" t="0" r="0" b="0"/>
          <a:stretch>
            <a:fillRect/>
          </a:stretch>
        </p:blipFill>
        <p:spPr>
          <a:xfrm flipH="false" flipV="false" rot="0">
            <a:off x="4356843" y="6123756"/>
            <a:ext cx="1550357" cy="937966"/>
          </a:xfrm>
          <a:prstGeom prst="rect">
            <a:avLst/>
          </a:prstGeom>
        </p:spPr>
      </p:pic>
      <p:sp>
        <p:nvSpPr>
          <p:cNvPr name="TextBox 6" id="6"/>
          <p:cNvSpPr txBox="true"/>
          <p:nvPr/>
        </p:nvSpPr>
        <p:spPr>
          <a:xfrm rot="0">
            <a:off x="4135863" y="1471528"/>
            <a:ext cx="3932714" cy="523875"/>
          </a:xfrm>
          <a:prstGeom prst="rect">
            <a:avLst/>
          </a:prstGeom>
        </p:spPr>
        <p:txBody>
          <a:bodyPr anchor="t" rtlCol="false" tIns="0" lIns="0" bIns="0" rIns="0">
            <a:spAutoFit/>
          </a:bodyPr>
          <a:lstStyle/>
          <a:p>
            <a:pPr algn="ctr">
              <a:lnSpc>
                <a:spcPts val="4200"/>
              </a:lnSpc>
              <a:spcBef>
                <a:spcPct val="0"/>
              </a:spcBef>
            </a:pPr>
            <a:r>
              <a:rPr lang="en-US" sz="3000">
                <a:solidFill>
                  <a:srgbClr val="2C92D5"/>
                </a:solidFill>
                <a:latin typeface="Aileron Regular"/>
              </a:rPr>
              <a:t> For indexes  24 and 25</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283160" y="2829405"/>
            <a:ext cx="17764640" cy="6262825"/>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0">
            <a:off x="15972815" y="3959523"/>
            <a:ext cx="1550357" cy="937966"/>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12387547" y="7121359"/>
            <a:ext cx="1550357" cy="937966"/>
          </a:xfrm>
          <a:prstGeom prst="rect">
            <a:avLst/>
          </a:prstGeom>
        </p:spPr>
      </p:pic>
      <p:sp>
        <p:nvSpPr>
          <p:cNvPr name="TextBox 5" id="5"/>
          <p:cNvSpPr txBox="true"/>
          <p:nvPr/>
        </p:nvSpPr>
        <p:spPr>
          <a:xfrm rot="0">
            <a:off x="715085" y="188254"/>
            <a:ext cx="10001261" cy="423957"/>
          </a:xfrm>
          <a:prstGeom prst="rect">
            <a:avLst/>
          </a:prstGeom>
        </p:spPr>
        <p:txBody>
          <a:bodyPr anchor="t" rtlCol="false" tIns="0" lIns="0" bIns="0" rIns="0">
            <a:spAutoFit/>
          </a:bodyPr>
          <a:lstStyle/>
          <a:p>
            <a:pPr>
              <a:lnSpc>
                <a:spcPts val="3352"/>
              </a:lnSpc>
            </a:pPr>
            <a:r>
              <a:rPr lang="en-US" sz="2725" spc="163">
                <a:solidFill>
                  <a:srgbClr val="2C92D5"/>
                </a:solidFill>
                <a:latin typeface="Aileron Heavy Bold"/>
              </a:rPr>
              <a:t>APPLYING THE METHOD  TO THE SECOND VIDEO</a:t>
            </a:r>
          </a:p>
        </p:txBody>
      </p:sp>
      <p:sp>
        <p:nvSpPr>
          <p:cNvPr name="TextBox 6" id="6"/>
          <p:cNvSpPr txBox="true"/>
          <p:nvPr/>
        </p:nvSpPr>
        <p:spPr>
          <a:xfrm rot="0">
            <a:off x="3914883" y="1471528"/>
            <a:ext cx="4374674" cy="523875"/>
          </a:xfrm>
          <a:prstGeom prst="rect">
            <a:avLst/>
          </a:prstGeom>
        </p:spPr>
        <p:txBody>
          <a:bodyPr anchor="t" rtlCol="false" tIns="0" lIns="0" bIns="0" rIns="0">
            <a:spAutoFit/>
          </a:bodyPr>
          <a:lstStyle/>
          <a:p>
            <a:pPr algn="ctr">
              <a:lnSpc>
                <a:spcPts val="4200"/>
              </a:lnSpc>
              <a:spcBef>
                <a:spcPct val="0"/>
              </a:spcBef>
            </a:pPr>
            <a:r>
              <a:rPr lang="en-US" sz="3000">
                <a:solidFill>
                  <a:srgbClr val="2C92D5"/>
                </a:solidFill>
                <a:latin typeface="Aileron Regular"/>
              </a:rPr>
              <a:t> For indexes  139 and 140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0" y="2110531"/>
            <a:ext cx="10279495" cy="4884329"/>
          </a:xfrm>
          <a:prstGeom prst="rect">
            <a:avLst/>
          </a:prstGeom>
        </p:spPr>
      </p:pic>
      <p:pic>
        <p:nvPicPr>
          <p:cNvPr name="Picture 3" id="3"/>
          <p:cNvPicPr>
            <a:picLocks noChangeAspect="true"/>
          </p:cNvPicPr>
          <p:nvPr/>
        </p:nvPicPr>
        <p:blipFill>
          <a:blip r:embed="rId3"/>
          <a:srcRect l="0" t="2781" r="0" b="2781"/>
          <a:stretch>
            <a:fillRect/>
          </a:stretch>
        </p:blipFill>
        <p:spPr>
          <a:xfrm flipH="false" flipV="false" rot="0">
            <a:off x="2732072" y="1028700"/>
            <a:ext cx="12823856" cy="790150"/>
          </a:xfrm>
          <a:prstGeom prst="rect">
            <a:avLst/>
          </a:prstGeom>
        </p:spPr>
      </p:pic>
      <p:pic>
        <p:nvPicPr>
          <p:cNvPr name="Picture 4" id="4"/>
          <p:cNvPicPr>
            <a:picLocks noChangeAspect="true"/>
          </p:cNvPicPr>
          <p:nvPr/>
        </p:nvPicPr>
        <p:blipFill>
          <a:blip r:embed="rId4"/>
          <a:srcRect l="0" t="0" r="0" b="0"/>
          <a:stretch>
            <a:fillRect/>
          </a:stretch>
        </p:blipFill>
        <p:spPr>
          <a:xfrm flipH="false" flipV="false" rot="0">
            <a:off x="8393537" y="5038915"/>
            <a:ext cx="9894463" cy="5093498"/>
          </a:xfrm>
          <a:prstGeom prst="rect">
            <a:avLst/>
          </a:prstGeom>
        </p:spPr>
      </p:pic>
      <p:sp>
        <p:nvSpPr>
          <p:cNvPr name="TextBox 5" id="5"/>
          <p:cNvSpPr txBox="true"/>
          <p:nvPr/>
        </p:nvSpPr>
        <p:spPr>
          <a:xfrm rot="0">
            <a:off x="715085" y="188254"/>
            <a:ext cx="10001261" cy="423957"/>
          </a:xfrm>
          <a:prstGeom prst="rect">
            <a:avLst/>
          </a:prstGeom>
        </p:spPr>
        <p:txBody>
          <a:bodyPr anchor="t" rtlCol="false" tIns="0" lIns="0" bIns="0" rIns="0">
            <a:spAutoFit/>
          </a:bodyPr>
          <a:lstStyle/>
          <a:p>
            <a:pPr>
              <a:lnSpc>
                <a:spcPts val="3352"/>
              </a:lnSpc>
            </a:pPr>
            <a:r>
              <a:rPr lang="en-US" sz="2725" spc="163">
                <a:solidFill>
                  <a:srgbClr val="2C92D5"/>
                </a:solidFill>
                <a:latin typeface="Aileron Heavy Bold"/>
              </a:rPr>
              <a:t>APPLYING THE METHOD  TO THE SECOND VIDEO</a:t>
            </a:r>
          </a:p>
        </p:txBody>
      </p:sp>
      <p:sp>
        <p:nvSpPr>
          <p:cNvPr name="TextBox 6" id="6"/>
          <p:cNvSpPr txBox="true"/>
          <p:nvPr/>
        </p:nvSpPr>
        <p:spPr>
          <a:xfrm rot="0">
            <a:off x="10716346" y="2340821"/>
            <a:ext cx="7198250" cy="1234439"/>
          </a:xfrm>
          <a:prstGeom prst="rect">
            <a:avLst/>
          </a:prstGeom>
        </p:spPr>
        <p:txBody>
          <a:bodyPr anchor="t" rtlCol="false" tIns="0" lIns="0" bIns="0" rIns="0">
            <a:spAutoFit/>
          </a:bodyPr>
          <a:lstStyle/>
          <a:p>
            <a:pPr algn="just">
              <a:lnSpc>
                <a:spcPts val="3360"/>
              </a:lnSpc>
            </a:pPr>
            <a:r>
              <a:rPr lang="en-US" sz="2400">
                <a:solidFill>
                  <a:srgbClr val="191919"/>
                </a:solidFill>
                <a:latin typeface="Canva Sans"/>
              </a:rPr>
              <a:t>The majority of values are between 129 and 135, For this video we can see that variance is low wish gives us an idea that the froth is stable.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2439513" y="2889311"/>
            <a:ext cx="13408973" cy="6680796"/>
          </a:xfrm>
          <a:prstGeom prst="rect">
            <a:avLst/>
          </a:prstGeom>
        </p:spPr>
      </p:pic>
      <p:sp>
        <p:nvSpPr>
          <p:cNvPr name="TextBox 3" id="3"/>
          <p:cNvSpPr txBox="true"/>
          <p:nvPr/>
        </p:nvSpPr>
        <p:spPr>
          <a:xfrm rot="0">
            <a:off x="715085" y="188254"/>
            <a:ext cx="10001261" cy="423957"/>
          </a:xfrm>
          <a:prstGeom prst="rect">
            <a:avLst/>
          </a:prstGeom>
        </p:spPr>
        <p:txBody>
          <a:bodyPr anchor="t" rtlCol="false" tIns="0" lIns="0" bIns="0" rIns="0">
            <a:spAutoFit/>
          </a:bodyPr>
          <a:lstStyle/>
          <a:p>
            <a:pPr>
              <a:lnSpc>
                <a:spcPts val="3352"/>
              </a:lnSpc>
            </a:pPr>
            <a:r>
              <a:rPr lang="en-US" sz="2725" spc="163">
                <a:solidFill>
                  <a:srgbClr val="2C92D5"/>
                </a:solidFill>
                <a:latin typeface="Aileron Heavy Bold"/>
              </a:rPr>
              <a:t>APPLYING THE METHOD  TO THE SECOND VIDEO</a:t>
            </a:r>
          </a:p>
        </p:txBody>
      </p:sp>
      <p:sp>
        <p:nvSpPr>
          <p:cNvPr name="TextBox 4" id="4"/>
          <p:cNvSpPr txBox="true"/>
          <p:nvPr/>
        </p:nvSpPr>
        <p:spPr>
          <a:xfrm rot="0">
            <a:off x="1918215" y="990600"/>
            <a:ext cx="14930836" cy="815339"/>
          </a:xfrm>
          <a:prstGeom prst="rect">
            <a:avLst/>
          </a:prstGeom>
        </p:spPr>
        <p:txBody>
          <a:bodyPr anchor="t" rtlCol="false" tIns="0" lIns="0" bIns="0" rIns="0">
            <a:spAutoFit/>
          </a:bodyPr>
          <a:lstStyle/>
          <a:p>
            <a:pPr algn="just">
              <a:lnSpc>
                <a:spcPts val="3360"/>
              </a:lnSpc>
            </a:pPr>
            <a:r>
              <a:rPr lang="en-US" sz="2400">
                <a:solidFill>
                  <a:srgbClr val="191919"/>
                </a:solidFill>
                <a:latin typeface="Canva Sans"/>
              </a:rPr>
              <a:t>The assumption that the froth is stable is still valid seeing this plot, the differences between values does not exceed 4, unlike the previous video the differences are high.</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3018459" y="3592898"/>
            <a:ext cx="12251082" cy="6130863"/>
          </a:xfrm>
          <a:prstGeom prst="rect">
            <a:avLst/>
          </a:prstGeom>
        </p:spPr>
      </p:pic>
      <p:sp>
        <p:nvSpPr>
          <p:cNvPr name="TextBox 3" id="3"/>
          <p:cNvSpPr txBox="true"/>
          <p:nvPr/>
        </p:nvSpPr>
        <p:spPr>
          <a:xfrm rot="0">
            <a:off x="923604" y="554452"/>
            <a:ext cx="8419990" cy="474248"/>
          </a:xfrm>
          <a:prstGeom prst="rect">
            <a:avLst/>
          </a:prstGeom>
        </p:spPr>
        <p:txBody>
          <a:bodyPr anchor="t" rtlCol="false" tIns="0" lIns="0" bIns="0" rIns="0">
            <a:spAutoFit/>
          </a:bodyPr>
          <a:lstStyle/>
          <a:p>
            <a:pPr>
              <a:lnSpc>
                <a:spcPts val="3721"/>
              </a:lnSpc>
            </a:pPr>
            <a:r>
              <a:rPr lang="en-US" sz="3025" spc="181">
                <a:solidFill>
                  <a:srgbClr val="2C92D5"/>
                </a:solidFill>
                <a:latin typeface="Aileron Heavy Bold"/>
              </a:rPr>
              <a:t>CONCLUSION FOR THE FIRST METHOD</a:t>
            </a:r>
          </a:p>
        </p:txBody>
      </p:sp>
      <p:sp>
        <p:nvSpPr>
          <p:cNvPr name="TextBox 4" id="4"/>
          <p:cNvSpPr txBox="true"/>
          <p:nvPr/>
        </p:nvSpPr>
        <p:spPr>
          <a:xfrm rot="0">
            <a:off x="2328464" y="1477145"/>
            <a:ext cx="14930836" cy="1653539"/>
          </a:xfrm>
          <a:prstGeom prst="rect">
            <a:avLst/>
          </a:prstGeom>
        </p:spPr>
        <p:txBody>
          <a:bodyPr anchor="t" rtlCol="false" tIns="0" lIns="0" bIns="0" rIns="0">
            <a:spAutoFit/>
          </a:bodyPr>
          <a:lstStyle/>
          <a:p>
            <a:pPr algn="just">
              <a:lnSpc>
                <a:spcPts val="3360"/>
              </a:lnSpc>
            </a:pPr>
            <a:r>
              <a:rPr lang="en-US" sz="2400">
                <a:solidFill>
                  <a:srgbClr val="191919"/>
                </a:solidFill>
                <a:latin typeface="Canva Sans"/>
              </a:rPr>
              <a:t>As a conclusion, This method gives us a good idea how the froth is acting, and it's stability.</a:t>
            </a:r>
          </a:p>
          <a:p>
            <a:pPr algn="just">
              <a:lnSpc>
                <a:spcPts val="3360"/>
              </a:lnSpc>
            </a:pPr>
          </a:p>
          <a:p>
            <a:pPr algn="just">
              <a:lnSpc>
                <a:spcPts val="3360"/>
              </a:lnSpc>
            </a:pPr>
            <a:r>
              <a:rPr lang="en-US" sz="2400">
                <a:solidFill>
                  <a:srgbClr val="191919"/>
                </a:solidFill>
                <a:latin typeface="Canva Sans"/>
              </a:rPr>
              <a:t>In this plot, we can see the values of differences  between the two video and as a conclusion we can say that the froth on the video 2 is more stable</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2124873" y="1247775"/>
            <a:ext cx="15134427" cy="9525"/>
          </a:xfrm>
          <a:prstGeom prst="rect">
            <a:avLst/>
          </a:prstGeom>
          <a:solidFill>
            <a:srgbClr val="2C92D5"/>
          </a:solidFill>
        </p:spPr>
      </p:sp>
      <p:sp>
        <p:nvSpPr>
          <p:cNvPr name="TextBox 3" id="3"/>
          <p:cNvSpPr txBox="true"/>
          <p:nvPr/>
        </p:nvSpPr>
        <p:spPr>
          <a:xfrm rot="0">
            <a:off x="839005" y="225767"/>
            <a:ext cx="14127294"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a:rPr>
              <a:t>TRYING IMPROVEMENTS</a:t>
            </a:r>
          </a:p>
        </p:txBody>
      </p:sp>
      <p:sp>
        <p:nvSpPr>
          <p:cNvPr name="TextBox 4" id="4"/>
          <p:cNvSpPr txBox="true"/>
          <p:nvPr/>
        </p:nvSpPr>
        <p:spPr>
          <a:xfrm rot="0">
            <a:off x="1888121" y="1609725"/>
            <a:ext cx="14511758" cy="5699126"/>
          </a:xfrm>
          <a:prstGeom prst="rect">
            <a:avLst/>
          </a:prstGeom>
        </p:spPr>
        <p:txBody>
          <a:bodyPr anchor="t" rtlCol="false" tIns="0" lIns="0" bIns="0" rIns="0">
            <a:spAutoFit/>
          </a:bodyPr>
          <a:lstStyle/>
          <a:p>
            <a:pPr algn="just">
              <a:lnSpc>
                <a:spcPts val="4549"/>
              </a:lnSpc>
            </a:pPr>
            <a:r>
              <a:rPr lang="en-US" sz="3249" spc="162">
                <a:solidFill>
                  <a:srgbClr val="191919"/>
                </a:solidFill>
                <a:latin typeface="Aileron Regular Bold"/>
              </a:rPr>
              <a:t>Idea:</a:t>
            </a:r>
          </a:p>
          <a:p>
            <a:pPr algn="just">
              <a:lnSpc>
                <a:spcPts val="4549"/>
              </a:lnSpc>
            </a:pPr>
            <a:r>
              <a:rPr lang="en-US" sz="3249" spc="162">
                <a:solidFill>
                  <a:srgbClr val="191919"/>
                </a:solidFill>
                <a:latin typeface="Aileron Regular"/>
              </a:rPr>
              <a:t>In computer vision, there are various techniques to reduce image noise, one of them is applying a smoothing filter then a sharpening filter. </a:t>
            </a:r>
          </a:p>
          <a:p>
            <a:pPr algn="just">
              <a:lnSpc>
                <a:spcPts val="4549"/>
              </a:lnSpc>
            </a:pPr>
          </a:p>
          <a:p>
            <a:pPr algn="just">
              <a:lnSpc>
                <a:spcPts val="4549"/>
              </a:lnSpc>
            </a:pPr>
            <a:r>
              <a:rPr lang="en-US" sz="3249" spc="162">
                <a:solidFill>
                  <a:srgbClr val="191919"/>
                </a:solidFill>
                <a:latin typeface="Aileron Regular"/>
              </a:rPr>
              <a:t>Smoothing filter reduce the noise in the image and the sharpening filter brings up the clarity of the edges in the image</a:t>
            </a:r>
          </a:p>
          <a:p>
            <a:pPr algn="just">
              <a:lnSpc>
                <a:spcPts val="4549"/>
              </a:lnSpc>
            </a:pPr>
          </a:p>
          <a:p>
            <a:pPr algn="just">
              <a:lnSpc>
                <a:spcPts val="4549"/>
              </a:lnSpc>
            </a:pPr>
            <a:r>
              <a:rPr lang="en-US" sz="3249" spc="162">
                <a:solidFill>
                  <a:srgbClr val="191919"/>
                </a:solidFill>
                <a:latin typeface="Aileron Regular"/>
              </a:rPr>
              <a:t>Contrast boosting an image means increasing the difference in intensity between the light and dark areas of the image.</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2124873" y="1247775"/>
            <a:ext cx="15134427" cy="9525"/>
          </a:xfrm>
          <a:prstGeom prst="rect">
            <a:avLst/>
          </a:prstGeom>
          <a:solidFill>
            <a:srgbClr val="2C92D5"/>
          </a:solidFill>
        </p:spPr>
      </p:sp>
      <p:sp>
        <p:nvSpPr>
          <p:cNvPr name="TextBox 3" id="3"/>
          <p:cNvSpPr txBox="true"/>
          <p:nvPr/>
        </p:nvSpPr>
        <p:spPr>
          <a:xfrm rot="0">
            <a:off x="647862" y="191013"/>
            <a:ext cx="14127294"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a:rPr>
              <a:t>TRYING IMPROVEMENTS: SHARPENING &amp; BLURRING</a:t>
            </a:r>
          </a:p>
        </p:txBody>
      </p:sp>
      <p:sp>
        <p:nvSpPr>
          <p:cNvPr name="TextBox 4" id="4"/>
          <p:cNvSpPr txBox="true"/>
          <p:nvPr/>
        </p:nvSpPr>
        <p:spPr>
          <a:xfrm rot="0">
            <a:off x="1932641" y="2245067"/>
            <a:ext cx="14511758" cy="5127626"/>
          </a:xfrm>
          <a:prstGeom prst="rect">
            <a:avLst/>
          </a:prstGeom>
        </p:spPr>
        <p:txBody>
          <a:bodyPr anchor="t" rtlCol="false" tIns="0" lIns="0" bIns="0" rIns="0">
            <a:spAutoFit/>
          </a:bodyPr>
          <a:lstStyle/>
          <a:p>
            <a:pPr algn="just">
              <a:lnSpc>
                <a:spcPts val="4549"/>
              </a:lnSpc>
            </a:pPr>
            <a:r>
              <a:rPr lang="en-US" sz="3249" spc="162">
                <a:solidFill>
                  <a:srgbClr val="191919"/>
                </a:solidFill>
                <a:latin typeface="Aileron Regular"/>
              </a:rPr>
              <a:t>After applying the filters to improve the method, the results yielded are quite similar to the previous method. </a:t>
            </a:r>
          </a:p>
          <a:p>
            <a:pPr algn="just">
              <a:lnSpc>
                <a:spcPts val="4549"/>
              </a:lnSpc>
            </a:pPr>
            <a:r>
              <a:rPr lang="en-US" sz="3249" spc="162">
                <a:solidFill>
                  <a:srgbClr val="191919"/>
                </a:solidFill>
                <a:latin typeface="Aileron Regular"/>
              </a:rPr>
              <a:t>To conclude, the results are not satisfactory to excuse the slow time of execution.</a:t>
            </a:r>
          </a:p>
          <a:p>
            <a:pPr algn="just">
              <a:lnSpc>
                <a:spcPts val="4549"/>
              </a:lnSpc>
            </a:pPr>
            <a:r>
              <a:rPr lang="en-US" sz="3249" spc="162">
                <a:solidFill>
                  <a:srgbClr val="191919"/>
                </a:solidFill>
                <a:latin typeface="Aileron Regular"/>
              </a:rPr>
              <a:t> </a:t>
            </a:r>
          </a:p>
          <a:p>
            <a:pPr algn="just">
              <a:lnSpc>
                <a:spcPts val="4549"/>
              </a:lnSpc>
            </a:pPr>
            <a:r>
              <a:rPr lang="en-US" sz="3249" spc="162">
                <a:solidFill>
                  <a:srgbClr val="191919"/>
                </a:solidFill>
                <a:latin typeface="Aileron Regular"/>
              </a:rPr>
              <a:t>For comparison: the Original method applied to the first video (video length 31 seconds) took 10.4s to execute on 4 cores 8 threads CPU running at 3.3Ghz, but it took 2 min 17s on the method with the blur and sharpening filters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2124873" y="1247775"/>
            <a:ext cx="15134427" cy="9525"/>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5008218" y="3777734"/>
            <a:ext cx="12251082" cy="6141507"/>
          </a:xfrm>
          <a:prstGeom prst="rect">
            <a:avLst/>
          </a:prstGeom>
        </p:spPr>
      </p:pic>
      <p:sp>
        <p:nvSpPr>
          <p:cNvPr name="TextBox 4" id="4"/>
          <p:cNvSpPr txBox="true"/>
          <p:nvPr/>
        </p:nvSpPr>
        <p:spPr>
          <a:xfrm rot="0">
            <a:off x="647862" y="191013"/>
            <a:ext cx="14127294"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a:rPr>
              <a:t>TRYING IMPROVEMENTS: SHARPENING &amp; BLURRING</a:t>
            </a:r>
          </a:p>
        </p:txBody>
      </p:sp>
      <p:sp>
        <p:nvSpPr>
          <p:cNvPr name="TextBox 5" id="5"/>
          <p:cNvSpPr txBox="true"/>
          <p:nvPr/>
        </p:nvSpPr>
        <p:spPr>
          <a:xfrm rot="0">
            <a:off x="367915" y="1093409"/>
            <a:ext cx="4983744" cy="613410"/>
          </a:xfrm>
          <a:prstGeom prst="rect">
            <a:avLst/>
          </a:prstGeom>
        </p:spPr>
        <p:txBody>
          <a:bodyPr anchor="t" rtlCol="false" tIns="0" lIns="0" bIns="0" rIns="0">
            <a:spAutoFit/>
          </a:bodyPr>
          <a:lstStyle/>
          <a:p>
            <a:pPr algn="ctr">
              <a:lnSpc>
                <a:spcPts val="5039"/>
              </a:lnSpc>
            </a:pPr>
            <a:r>
              <a:rPr lang="en-US" sz="3599">
                <a:solidFill>
                  <a:srgbClr val="000000"/>
                </a:solidFill>
                <a:latin typeface="Canva Sans Bold"/>
              </a:rPr>
              <a:t>Video1 vs Video 2</a:t>
            </a:r>
          </a:p>
        </p:txBody>
      </p:sp>
      <p:sp>
        <p:nvSpPr>
          <p:cNvPr name="TextBox 6" id="6"/>
          <p:cNvSpPr txBox="true"/>
          <p:nvPr/>
        </p:nvSpPr>
        <p:spPr>
          <a:xfrm rot="0">
            <a:off x="479145" y="2040195"/>
            <a:ext cx="16608590" cy="1581150"/>
          </a:xfrm>
          <a:prstGeom prst="rect">
            <a:avLst/>
          </a:prstGeom>
        </p:spPr>
        <p:txBody>
          <a:bodyPr anchor="t" rtlCol="false" tIns="0" lIns="0" bIns="0" rIns="0">
            <a:spAutoFit/>
          </a:bodyPr>
          <a:lstStyle/>
          <a:p>
            <a:pPr algn="just">
              <a:lnSpc>
                <a:spcPts val="4200"/>
              </a:lnSpc>
            </a:pPr>
            <a:r>
              <a:rPr lang="en-US" sz="3000">
                <a:solidFill>
                  <a:srgbClr val="000000"/>
                </a:solidFill>
                <a:latin typeface="Canva Sans"/>
              </a:rPr>
              <a:t>This plot helps us better understand the difference between the two videos, We can see that the values of differences between average intensity values are higher in the video 1 compared to the video 2</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60979" y="708587"/>
            <a:ext cx="15184122" cy="59221"/>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7259136" y="2976969"/>
            <a:ext cx="11028864" cy="5543203"/>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4798526" y="1403357"/>
            <a:ext cx="11326327" cy="728922"/>
          </a:xfrm>
          <a:prstGeom prst="rect">
            <a:avLst/>
          </a:prstGeom>
        </p:spPr>
      </p:pic>
      <p:sp>
        <p:nvSpPr>
          <p:cNvPr name="TextBox 5" id="5"/>
          <p:cNvSpPr txBox="true"/>
          <p:nvPr/>
        </p:nvSpPr>
        <p:spPr>
          <a:xfrm rot="0">
            <a:off x="560979" y="104130"/>
            <a:ext cx="14127294"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a:rPr>
              <a:t>TRYING IMPROVEMENTS: CONTRAST BOOSTING</a:t>
            </a:r>
          </a:p>
        </p:txBody>
      </p:sp>
      <p:sp>
        <p:nvSpPr>
          <p:cNvPr name="TextBox 6" id="6"/>
          <p:cNvSpPr txBox="true"/>
          <p:nvPr/>
        </p:nvSpPr>
        <p:spPr>
          <a:xfrm rot="0">
            <a:off x="149087" y="3619817"/>
            <a:ext cx="6860319" cy="2980690"/>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rPr>
              <a:t>Contrast Boosting the images increased the variance in this case.  That's due to the boosted intensity value of the white and dark pixels.</a:t>
            </a:r>
          </a:p>
        </p:txBody>
      </p:sp>
      <p:sp>
        <p:nvSpPr>
          <p:cNvPr name="TextBox 7" id="7"/>
          <p:cNvSpPr txBox="true"/>
          <p:nvPr/>
        </p:nvSpPr>
        <p:spPr>
          <a:xfrm rot="0">
            <a:off x="55137" y="1336682"/>
            <a:ext cx="3524110" cy="613410"/>
          </a:xfrm>
          <a:prstGeom prst="rect">
            <a:avLst/>
          </a:prstGeom>
        </p:spPr>
        <p:txBody>
          <a:bodyPr anchor="t" rtlCol="false" tIns="0" lIns="0" bIns="0" rIns="0">
            <a:spAutoFit/>
          </a:bodyPr>
          <a:lstStyle/>
          <a:p>
            <a:pPr algn="ctr">
              <a:lnSpc>
                <a:spcPts val="5039"/>
              </a:lnSpc>
            </a:pPr>
            <a:r>
              <a:rPr lang="en-US" sz="3599">
                <a:solidFill>
                  <a:srgbClr val="000000"/>
                </a:solidFill>
                <a:latin typeface="Canva Sans Bold"/>
              </a:rPr>
              <a:t>Video 1</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60979" y="708587"/>
            <a:ext cx="15184122" cy="59221"/>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5022511" y="1295307"/>
            <a:ext cx="11301259" cy="762835"/>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7152642" y="2909341"/>
            <a:ext cx="11135358" cy="5479922"/>
          </a:xfrm>
          <a:prstGeom prst="rect">
            <a:avLst/>
          </a:prstGeom>
        </p:spPr>
      </p:pic>
      <p:sp>
        <p:nvSpPr>
          <p:cNvPr name="TextBox 5" id="5"/>
          <p:cNvSpPr txBox="true"/>
          <p:nvPr/>
        </p:nvSpPr>
        <p:spPr>
          <a:xfrm rot="0">
            <a:off x="560979" y="104130"/>
            <a:ext cx="14127294"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a:rPr>
              <a:t>TRYING IMPROVEMENTS: CONTRAST BOOSTING</a:t>
            </a:r>
          </a:p>
        </p:txBody>
      </p:sp>
      <p:sp>
        <p:nvSpPr>
          <p:cNvPr name="TextBox 6" id="6"/>
          <p:cNvSpPr txBox="true"/>
          <p:nvPr/>
        </p:nvSpPr>
        <p:spPr>
          <a:xfrm rot="0">
            <a:off x="149087" y="3619817"/>
            <a:ext cx="6860319" cy="238061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rPr>
              <a:t>The same story repeats on the second video, the variance value increased compared to the raw method.</a:t>
            </a:r>
          </a:p>
        </p:txBody>
      </p:sp>
      <p:sp>
        <p:nvSpPr>
          <p:cNvPr name="TextBox 7" id="7"/>
          <p:cNvSpPr txBox="true"/>
          <p:nvPr/>
        </p:nvSpPr>
        <p:spPr>
          <a:xfrm rot="0">
            <a:off x="55137" y="1336682"/>
            <a:ext cx="3524110" cy="613410"/>
          </a:xfrm>
          <a:prstGeom prst="rect">
            <a:avLst/>
          </a:prstGeom>
        </p:spPr>
        <p:txBody>
          <a:bodyPr anchor="t" rtlCol="false" tIns="0" lIns="0" bIns="0" rIns="0">
            <a:spAutoFit/>
          </a:bodyPr>
          <a:lstStyle/>
          <a:p>
            <a:pPr algn="ctr">
              <a:lnSpc>
                <a:spcPts val="5039"/>
              </a:lnSpc>
            </a:pPr>
            <a:r>
              <a:rPr lang="en-US" sz="3599">
                <a:solidFill>
                  <a:srgbClr val="000000"/>
                </a:solidFill>
                <a:latin typeface="Canva Sans Bold"/>
              </a:rPr>
              <a:t>Video 2</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560979" y="708587"/>
            <a:ext cx="15184122" cy="59221"/>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5351659" y="3796492"/>
            <a:ext cx="12424751" cy="6228567"/>
          </a:xfrm>
          <a:prstGeom prst="rect">
            <a:avLst/>
          </a:prstGeom>
        </p:spPr>
      </p:pic>
      <p:sp>
        <p:nvSpPr>
          <p:cNvPr name="TextBox 4" id="4"/>
          <p:cNvSpPr txBox="true"/>
          <p:nvPr/>
        </p:nvSpPr>
        <p:spPr>
          <a:xfrm rot="0">
            <a:off x="560979" y="104130"/>
            <a:ext cx="14127294"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a:rPr>
              <a:t>TRYING IMPROVEMENTS: CONTRAST BOOSTING</a:t>
            </a:r>
          </a:p>
        </p:txBody>
      </p:sp>
      <p:sp>
        <p:nvSpPr>
          <p:cNvPr name="TextBox 5" id="5"/>
          <p:cNvSpPr txBox="true"/>
          <p:nvPr/>
        </p:nvSpPr>
        <p:spPr>
          <a:xfrm rot="0">
            <a:off x="479145" y="2040195"/>
            <a:ext cx="16608590" cy="1581150"/>
          </a:xfrm>
          <a:prstGeom prst="rect">
            <a:avLst/>
          </a:prstGeom>
        </p:spPr>
        <p:txBody>
          <a:bodyPr anchor="t" rtlCol="false" tIns="0" lIns="0" bIns="0" rIns="0">
            <a:spAutoFit/>
          </a:bodyPr>
          <a:lstStyle/>
          <a:p>
            <a:pPr algn="just">
              <a:lnSpc>
                <a:spcPts val="4200"/>
              </a:lnSpc>
            </a:pPr>
            <a:r>
              <a:rPr lang="en-US" sz="3000">
                <a:solidFill>
                  <a:srgbClr val="000000"/>
                </a:solidFill>
                <a:latin typeface="Canva Sans"/>
              </a:rPr>
              <a:t>This plot helps us better understand the difference between the two videos, We can see that the values of differences between average intensity values are higher in the video 1 compared to the video 2</a:t>
            </a:r>
          </a:p>
        </p:txBody>
      </p:sp>
      <p:sp>
        <p:nvSpPr>
          <p:cNvPr name="TextBox 6" id="6"/>
          <p:cNvSpPr txBox="true"/>
          <p:nvPr/>
        </p:nvSpPr>
        <p:spPr>
          <a:xfrm rot="0">
            <a:off x="367915" y="1093409"/>
            <a:ext cx="4983744" cy="613410"/>
          </a:xfrm>
          <a:prstGeom prst="rect">
            <a:avLst/>
          </a:prstGeom>
        </p:spPr>
        <p:txBody>
          <a:bodyPr anchor="t" rtlCol="false" tIns="0" lIns="0" bIns="0" rIns="0">
            <a:spAutoFit/>
          </a:bodyPr>
          <a:lstStyle/>
          <a:p>
            <a:pPr algn="ctr">
              <a:lnSpc>
                <a:spcPts val="5039"/>
              </a:lnSpc>
            </a:pPr>
            <a:r>
              <a:rPr lang="en-US" sz="3599">
                <a:solidFill>
                  <a:srgbClr val="000000"/>
                </a:solidFill>
                <a:latin typeface="Canva Sans Bold"/>
              </a:rPr>
              <a:t>Video1 vs Video 2</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460069" y="732685"/>
            <a:ext cx="17605990" cy="59344"/>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2822747" y="5733415"/>
            <a:ext cx="11320076" cy="730328"/>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2822747" y="7530542"/>
            <a:ext cx="11341906" cy="753337"/>
          </a:xfrm>
          <a:prstGeom prst="rect">
            <a:avLst/>
          </a:prstGeom>
        </p:spPr>
      </p:pic>
      <p:pic>
        <p:nvPicPr>
          <p:cNvPr name="Picture 5" id="5"/>
          <p:cNvPicPr>
            <a:picLocks noChangeAspect="true"/>
          </p:cNvPicPr>
          <p:nvPr/>
        </p:nvPicPr>
        <p:blipFill>
          <a:blip r:embed="rId4"/>
          <a:srcRect l="0" t="0" r="0" b="0"/>
          <a:stretch>
            <a:fillRect/>
          </a:stretch>
        </p:blipFill>
        <p:spPr>
          <a:xfrm flipH="false" flipV="false" rot="0">
            <a:off x="2853973" y="9217329"/>
            <a:ext cx="11310680" cy="760619"/>
          </a:xfrm>
          <a:prstGeom prst="rect">
            <a:avLst/>
          </a:prstGeom>
        </p:spPr>
      </p:pic>
      <p:sp>
        <p:nvSpPr>
          <p:cNvPr name="TextBox 6" id="6"/>
          <p:cNvSpPr txBox="true"/>
          <p:nvPr/>
        </p:nvSpPr>
        <p:spPr>
          <a:xfrm rot="0">
            <a:off x="460069" y="52768"/>
            <a:ext cx="17605990"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a:rPr>
              <a:t>COMPARISON BETWEEN THE ORIGINAL AND THE OTHER VERSIONS</a:t>
            </a:r>
          </a:p>
        </p:txBody>
      </p:sp>
      <p:sp>
        <p:nvSpPr>
          <p:cNvPr name="TextBox 7" id="7"/>
          <p:cNvSpPr txBox="true"/>
          <p:nvPr/>
        </p:nvSpPr>
        <p:spPr>
          <a:xfrm rot="0">
            <a:off x="1254596" y="801212"/>
            <a:ext cx="13487026" cy="4257155"/>
          </a:xfrm>
          <a:prstGeom prst="rect">
            <a:avLst/>
          </a:prstGeom>
        </p:spPr>
        <p:txBody>
          <a:bodyPr anchor="t" rtlCol="false" tIns="0" lIns="0" bIns="0" rIns="0">
            <a:spAutoFit/>
          </a:bodyPr>
          <a:lstStyle/>
          <a:p>
            <a:pPr algn="just">
              <a:lnSpc>
                <a:spcPts val="4228"/>
              </a:lnSpc>
            </a:pPr>
            <a:r>
              <a:rPr lang="en-US" sz="3020" spc="151">
                <a:solidFill>
                  <a:srgbClr val="191919"/>
                </a:solidFill>
                <a:latin typeface="Aileron Regular"/>
              </a:rPr>
              <a:t>In this slide, we are going to compare: </a:t>
            </a:r>
          </a:p>
          <a:p>
            <a:pPr algn="just" marL="652121" indent="-326060" lvl="1">
              <a:lnSpc>
                <a:spcPts val="4228"/>
              </a:lnSpc>
              <a:buFont typeface="Arial"/>
              <a:buChar char="•"/>
            </a:pPr>
            <a:r>
              <a:rPr lang="en-US" sz="3020" spc="151">
                <a:solidFill>
                  <a:srgbClr val="191919"/>
                </a:solidFill>
                <a:latin typeface="Aileron Regular"/>
              </a:rPr>
              <a:t>Average intensity method on raw images</a:t>
            </a:r>
          </a:p>
          <a:p>
            <a:pPr algn="just" marL="652121" indent="-326060" lvl="1">
              <a:lnSpc>
                <a:spcPts val="4228"/>
              </a:lnSpc>
              <a:buFont typeface="Arial"/>
              <a:buChar char="•"/>
            </a:pPr>
            <a:r>
              <a:rPr lang="en-US" sz="3020" spc="151">
                <a:solidFill>
                  <a:srgbClr val="191919"/>
                </a:solidFill>
                <a:latin typeface="Aileron Regular"/>
              </a:rPr>
              <a:t>Average intensity method on images with a blurring and sharpening filters</a:t>
            </a:r>
          </a:p>
          <a:p>
            <a:pPr algn="just" marL="652121" indent="-326060" lvl="1">
              <a:lnSpc>
                <a:spcPts val="4228"/>
              </a:lnSpc>
              <a:buFont typeface="Arial"/>
              <a:buChar char="•"/>
            </a:pPr>
            <a:r>
              <a:rPr lang="en-US" sz="3020" spc="151">
                <a:solidFill>
                  <a:srgbClr val="191919"/>
                </a:solidFill>
                <a:latin typeface="Aileron Regular"/>
              </a:rPr>
              <a:t>Average intensity method on contrast-boosted images</a:t>
            </a:r>
          </a:p>
          <a:p>
            <a:pPr algn="just">
              <a:lnSpc>
                <a:spcPts val="4228"/>
              </a:lnSpc>
            </a:pPr>
          </a:p>
          <a:p>
            <a:pPr algn="just">
              <a:lnSpc>
                <a:spcPts val="4228"/>
              </a:lnSpc>
            </a:pPr>
            <a:r>
              <a:rPr lang="en-US" sz="3020" spc="151">
                <a:solidFill>
                  <a:srgbClr val="191919"/>
                </a:solidFill>
                <a:latin typeface="Aileron Regular"/>
              </a:rPr>
              <a:t>These results are obtained on the </a:t>
            </a:r>
            <a:r>
              <a:rPr lang="en-US" sz="3020" spc="151">
                <a:solidFill>
                  <a:srgbClr val="191919"/>
                </a:solidFill>
                <a:latin typeface="Aileron Regular Bold"/>
              </a:rPr>
              <a:t>first video (length 31sec) </a:t>
            </a:r>
            <a:r>
              <a:rPr lang="en-US" sz="3020" spc="151">
                <a:solidFill>
                  <a:srgbClr val="191919"/>
                </a:solidFill>
                <a:latin typeface="Aileron Regular"/>
              </a:rPr>
              <a:t> using 4 cores 8 threads CPU clocked at 3.1 GHz and a 16Gb ram</a:t>
            </a:r>
          </a:p>
        </p:txBody>
      </p:sp>
      <p:sp>
        <p:nvSpPr>
          <p:cNvPr name="TextBox 8" id="8"/>
          <p:cNvSpPr txBox="true"/>
          <p:nvPr/>
        </p:nvSpPr>
        <p:spPr>
          <a:xfrm rot="0">
            <a:off x="1608865" y="5086350"/>
            <a:ext cx="2384166" cy="514350"/>
          </a:xfrm>
          <a:prstGeom prst="rect">
            <a:avLst/>
          </a:prstGeom>
        </p:spPr>
        <p:txBody>
          <a:bodyPr anchor="t" rtlCol="false" tIns="0" lIns="0" bIns="0" rIns="0">
            <a:spAutoFit/>
          </a:bodyPr>
          <a:lstStyle/>
          <a:p>
            <a:pPr>
              <a:lnSpc>
                <a:spcPts val="4200"/>
              </a:lnSpc>
            </a:pPr>
            <a:r>
              <a:rPr lang="en-US" sz="3000">
                <a:solidFill>
                  <a:srgbClr val="000000"/>
                </a:solidFill>
                <a:latin typeface="Canva Sans Bold"/>
              </a:rPr>
              <a:t>Raw method</a:t>
            </a:r>
          </a:p>
        </p:txBody>
      </p:sp>
      <p:sp>
        <p:nvSpPr>
          <p:cNvPr name="TextBox 9" id="9"/>
          <p:cNvSpPr txBox="true"/>
          <p:nvPr/>
        </p:nvSpPr>
        <p:spPr>
          <a:xfrm rot="0">
            <a:off x="1608865" y="6644718"/>
            <a:ext cx="7803257" cy="514350"/>
          </a:xfrm>
          <a:prstGeom prst="rect">
            <a:avLst/>
          </a:prstGeom>
        </p:spPr>
        <p:txBody>
          <a:bodyPr anchor="t" rtlCol="false" tIns="0" lIns="0" bIns="0" rIns="0">
            <a:spAutoFit/>
          </a:bodyPr>
          <a:lstStyle/>
          <a:p>
            <a:pPr>
              <a:lnSpc>
                <a:spcPts val="4200"/>
              </a:lnSpc>
            </a:pPr>
            <a:r>
              <a:rPr lang="en-US" sz="3000">
                <a:solidFill>
                  <a:srgbClr val="000000"/>
                </a:solidFill>
                <a:latin typeface="Canva Sans Bold"/>
              </a:rPr>
              <a:t>Median blur(7×7) and sharpening method</a:t>
            </a:r>
          </a:p>
        </p:txBody>
      </p:sp>
      <p:sp>
        <p:nvSpPr>
          <p:cNvPr name="TextBox 10" id="10"/>
          <p:cNvSpPr txBox="true"/>
          <p:nvPr/>
        </p:nvSpPr>
        <p:spPr>
          <a:xfrm rot="0">
            <a:off x="1608865" y="8464854"/>
            <a:ext cx="4493610" cy="514350"/>
          </a:xfrm>
          <a:prstGeom prst="rect">
            <a:avLst/>
          </a:prstGeom>
        </p:spPr>
        <p:txBody>
          <a:bodyPr anchor="t" rtlCol="false" tIns="0" lIns="0" bIns="0" rIns="0">
            <a:spAutoFit/>
          </a:bodyPr>
          <a:lstStyle/>
          <a:p>
            <a:pPr>
              <a:lnSpc>
                <a:spcPts val="4200"/>
              </a:lnSpc>
            </a:pPr>
            <a:r>
              <a:rPr lang="en-US" sz="3000">
                <a:solidFill>
                  <a:srgbClr val="000000"/>
                </a:solidFill>
                <a:latin typeface="Canva Sans Bold"/>
              </a:rPr>
              <a:t>Contrast boost method</a:t>
            </a:r>
          </a:p>
        </p:txBody>
      </p:sp>
      <p:sp>
        <p:nvSpPr>
          <p:cNvPr name="TextBox 11" id="11"/>
          <p:cNvSpPr txBox="true"/>
          <p:nvPr/>
        </p:nvSpPr>
        <p:spPr>
          <a:xfrm rot="0">
            <a:off x="4206841" y="5137150"/>
            <a:ext cx="3791267" cy="422275"/>
          </a:xfrm>
          <a:prstGeom prst="rect">
            <a:avLst/>
          </a:prstGeom>
        </p:spPr>
        <p:txBody>
          <a:bodyPr anchor="t" rtlCol="false" tIns="0" lIns="0" bIns="0" rIns="0">
            <a:spAutoFit/>
          </a:bodyPr>
          <a:lstStyle/>
          <a:p>
            <a:pPr algn="ctr">
              <a:lnSpc>
                <a:spcPts val="3499"/>
              </a:lnSpc>
            </a:pPr>
            <a:r>
              <a:rPr lang="en-US" sz="2499">
                <a:solidFill>
                  <a:srgbClr val="000000"/>
                </a:solidFill>
                <a:latin typeface="Canva Sans"/>
              </a:rPr>
              <a:t>Execution time = 10.4sec</a:t>
            </a:r>
          </a:p>
        </p:txBody>
      </p:sp>
      <p:sp>
        <p:nvSpPr>
          <p:cNvPr name="TextBox 12" id="12"/>
          <p:cNvSpPr txBox="true"/>
          <p:nvPr/>
        </p:nvSpPr>
        <p:spPr>
          <a:xfrm rot="0">
            <a:off x="9555812" y="6762192"/>
            <a:ext cx="4352290" cy="422275"/>
          </a:xfrm>
          <a:prstGeom prst="rect">
            <a:avLst/>
          </a:prstGeom>
        </p:spPr>
        <p:txBody>
          <a:bodyPr anchor="t" rtlCol="false" tIns="0" lIns="0" bIns="0" rIns="0">
            <a:spAutoFit/>
          </a:bodyPr>
          <a:lstStyle/>
          <a:p>
            <a:pPr algn="ctr">
              <a:lnSpc>
                <a:spcPts val="3499"/>
              </a:lnSpc>
            </a:pPr>
            <a:r>
              <a:rPr lang="en-US" sz="2499">
                <a:solidFill>
                  <a:srgbClr val="000000"/>
                </a:solidFill>
                <a:latin typeface="Canva Sans"/>
              </a:rPr>
              <a:t>Execution time = 2 min 17sec</a:t>
            </a:r>
          </a:p>
        </p:txBody>
      </p:sp>
      <p:sp>
        <p:nvSpPr>
          <p:cNvPr name="TextBox 13" id="13"/>
          <p:cNvSpPr txBox="true"/>
          <p:nvPr/>
        </p:nvSpPr>
        <p:spPr>
          <a:xfrm rot="0">
            <a:off x="6285474" y="8556929"/>
            <a:ext cx="3880961" cy="422275"/>
          </a:xfrm>
          <a:prstGeom prst="rect">
            <a:avLst/>
          </a:prstGeom>
        </p:spPr>
        <p:txBody>
          <a:bodyPr anchor="t" rtlCol="false" tIns="0" lIns="0" bIns="0" rIns="0">
            <a:spAutoFit/>
          </a:bodyPr>
          <a:lstStyle/>
          <a:p>
            <a:pPr algn="ctr">
              <a:lnSpc>
                <a:spcPts val="3499"/>
              </a:lnSpc>
            </a:pPr>
            <a:r>
              <a:rPr lang="en-US" sz="2499">
                <a:solidFill>
                  <a:srgbClr val="000000"/>
                </a:solidFill>
                <a:latin typeface="Canva Sans"/>
              </a:rPr>
              <a:t>Execution time = 10.9 sec</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460069" y="732685"/>
            <a:ext cx="17605990" cy="59344"/>
          </a:xfrm>
          <a:prstGeom prst="rect">
            <a:avLst/>
          </a:prstGeom>
          <a:solidFill>
            <a:srgbClr val="2C92D5"/>
          </a:solidFill>
        </p:spPr>
      </p:sp>
      <p:pic>
        <p:nvPicPr>
          <p:cNvPr name="Picture 3" id="3"/>
          <p:cNvPicPr>
            <a:picLocks noChangeAspect="true"/>
          </p:cNvPicPr>
          <p:nvPr/>
        </p:nvPicPr>
        <p:blipFill>
          <a:blip r:embed="rId2"/>
          <a:srcRect l="0" t="0" r="0" b="0"/>
          <a:stretch>
            <a:fillRect/>
          </a:stretch>
        </p:blipFill>
        <p:spPr>
          <a:xfrm flipH="false" flipV="false" rot="0">
            <a:off x="2273808" y="3240288"/>
            <a:ext cx="11269679" cy="713271"/>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2273808" y="4842832"/>
            <a:ext cx="11310680" cy="746533"/>
          </a:xfrm>
          <a:prstGeom prst="rect">
            <a:avLst/>
          </a:prstGeom>
        </p:spPr>
      </p:pic>
      <p:pic>
        <p:nvPicPr>
          <p:cNvPr name="Picture 5" id="5"/>
          <p:cNvPicPr>
            <a:picLocks noChangeAspect="true"/>
          </p:cNvPicPr>
          <p:nvPr/>
        </p:nvPicPr>
        <p:blipFill>
          <a:blip r:embed="rId4"/>
          <a:srcRect l="0" t="0" r="0" b="0"/>
          <a:stretch>
            <a:fillRect/>
          </a:stretch>
        </p:blipFill>
        <p:spPr>
          <a:xfrm flipH="false" flipV="false" rot="0">
            <a:off x="2251674" y="6805844"/>
            <a:ext cx="11291814" cy="708395"/>
          </a:xfrm>
          <a:prstGeom prst="rect">
            <a:avLst/>
          </a:prstGeom>
        </p:spPr>
      </p:pic>
      <p:sp>
        <p:nvSpPr>
          <p:cNvPr name="TextBox 6" id="6"/>
          <p:cNvSpPr txBox="true"/>
          <p:nvPr/>
        </p:nvSpPr>
        <p:spPr>
          <a:xfrm rot="0">
            <a:off x="460069" y="52768"/>
            <a:ext cx="17605990" cy="604457"/>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a:rPr>
              <a:t>COMPARISON BETWEEN THE ORIGINAL AND THE OTHER VERSIONS</a:t>
            </a:r>
          </a:p>
        </p:txBody>
      </p:sp>
      <p:sp>
        <p:nvSpPr>
          <p:cNvPr name="TextBox 7" id="7"/>
          <p:cNvSpPr txBox="true"/>
          <p:nvPr/>
        </p:nvSpPr>
        <p:spPr>
          <a:xfrm rot="0">
            <a:off x="1028700" y="962025"/>
            <a:ext cx="13487026" cy="1056755"/>
          </a:xfrm>
          <a:prstGeom prst="rect">
            <a:avLst/>
          </a:prstGeom>
        </p:spPr>
        <p:txBody>
          <a:bodyPr anchor="t" rtlCol="false" tIns="0" lIns="0" bIns="0" rIns="0">
            <a:spAutoFit/>
          </a:bodyPr>
          <a:lstStyle/>
          <a:p>
            <a:pPr algn="just">
              <a:lnSpc>
                <a:spcPts val="4228"/>
              </a:lnSpc>
            </a:pPr>
            <a:r>
              <a:rPr lang="en-US" sz="3020" spc="151">
                <a:solidFill>
                  <a:srgbClr val="191919"/>
                </a:solidFill>
                <a:latin typeface="Aileron Regular"/>
              </a:rPr>
              <a:t>These results are obtained on the </a:t>
            </a:r>
            <a:r>
              <a:rPr lang="en-US" sz="3020" spc="151">
                <a:solidFill>
                  <a:srgbClr val="191919"/>
                </a:solidFill>
                <a:latin typeface="Aileron Regular Bold"/>
              </a:rPr>
              <a:t>Second video (length 29sec) </a:t>
            </a:r>
            <a:r>
              <a:rPr lang="en-US" sz="3020" spc="151">
                <a:solidFill>
                  <a:srgbClr val="191919"/>
                </a:solidFill>
                <a:latin typeface="Aileron Regular"/>
              </a:rPr>
              <a:t> using 4 cores 8 threads CPU clocked at 3.1 GHz and a 16Gb ram</a:t>
            </a:r>
          </a:p>
        </p:txBody>
      </p:sp>
      <p:sp>
        <p:nvSpPr>
          <p:cNvPr name="TextBox 8" id="8"/>
          <p:cNvSpPr txBox="true"/>
          <p:nvPr/>
        </p:nvSpPr>
        <p:spPr>
          <a:xfrm rot="0">
            <a:off x="1028700" y="2531990"/>
            <a:ext cx="8796130" cy="514350"/>
          </a:xfrm>
          <a:prstGeom prst="rect">
            <a:avLst/>
          </a:prstGeom>
        </p:spPr>
        <p:txBody>
          <a:bodyPr anchor="t" rtlCol="false" tIns="0" lIns="0" bIns="0" rIns="0">
            <a:spAutoFit/>
          </a:bodyPr>
          <a:lstStyle/>
          <a:p>
            <a:pPr>
              <a:lnSpc>
                <a:spcPts val="4200"/>
              </a:lnSpc>
            </a:pPr>
            <a:r>
              <a:rPr lang="en-US" sz="3000">
                <a:solidFill>
                  <a:srgbClr val="000000"/>
                </a:solidFill>
                <a:latin typeface="Canva Sans Bold"/>
              </a:rPr>
              <a:t>Raw method: Execution time = 13.2sec</a:t>
            </a:r>
          </a:p>
        </p:txBody>
      </p:sp>
      <p:sp>
        <p:nvSpPr>
          <p:cNvPr name="TextBox 9" id="9"/>
          <p:cNvSpPr txBox="true"/>
          <p:nvPr/>
        </p:nvSpPr>
        <p:spPr>
          <a:xfrm rot="0">
            <a:off x="1028700" y="4090358"/>
            <a:ext cx="13989326" cy="514350"/>
          </a:xfrm>
          <a:prstGeom prst="rect">
            <a:avLst/>
          </a:prstGeom>
        </p:spPr>
        <p:txBody>
          <a:bodyPr anchor="t" rtlCol="false" tIns="0" lIns="0" bIns="0" rIns="0">
            <a:spAutoFit/>
          </a:bodyPr>
          <a:lstStyle/>
          <a:p>
            <a:pPr>
              <a:lnSpc>
                <a:spcPts val="4200"/>
              </a:lnSpc>
            </a:pPr>
            <a:r>
              <a:rPr lang="en-US" sz="3000">
                <a:solidFill>
                  <a:srgbClr val="000000"/>
                </a:solidFill>
                <a:latin typeface="Canva Sans Bold"/>
              </a:rPr>
              <a:t>Median blur(7×7) and sharpening method: Execution time = 2 min 37sec</a:t>
            </a:r>
          </a:p>
        </p:txBody>
      </p:sp>
      <p:sp>
        <p:nvSpPr>
          <p:cNvPr name="TextBox 10" id="10"/>
          <p:cNvSpPr txBox="true"/>
          <p:nvPr/>
        </p:nvSpPr>
        <p:spPr>
          <a:xfrm rot="0">
            <a:off x="1028700" y="5910494"/>
            <a:ext cx="13989326" cy="514350"/>
          </a:xfrm>
          <a:prstGeom prst="rect">
            <a:avLst/>
          </a:prstGeom>
        </p:spPr>
        <p:txBody>
          <a:bodyPr anchor="t" rtlCol="false" tIns="0" lIns="0" bIns="0" rIns="0">
            <a:spAutoFit/>
          </a:bodyPr>
          <a:lstStyle/>
          <a:p>
            <a:pPr>
              <a:lnSpc>
                <a:spcPts val="4200"/>
              </a:lnSpc>
            </a:pPr>
            <a:r>
              <a:rPr lang="en-US" sz="3000">
                <a:solidFill>
                  <a:srgbClr val="000000"/>
                </a:solidFill>
                <a:latin typeface="Canva Sans Bold"/>
              </a:rPr>
              <a:t>Contrast boost method: Execution time = 12.5 sec</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422099" y="1019175"/>
            <a:ext cx="15238686" cy="79031"/>
          </a:xfrm>
          <a:prstGeom prst="rect">
            <a:avLst/>
          </a:prstGeom>
          <a:solidFill>
            <a:srgbClr val="2C92D5"/>
          </a:solidFill>
        </p:spPr>
      </p:sp>
      <p:sp>
        <p:nvSpPr>
          <p:cNvPr name="TextBox 3" id="3"/>
          <p:cNvSpPr txBox="true"/>
          <p:nvPr/>
        </p:nvSpPr>
        <p:spPr>
          <a:xfrm rot="0">
            <a:off x="1888121" y="3689350"/>
            <a:ext cx="14841914" cy="3984626"/>
          </a:xfrm>
          <a:prstGeom prst="rect">
            <a:avLst/>
          </a:prstGeom>
        </p:spPr>
        <p:txBody>
          <a:bodyPr anchor="t" rtlCol="false" tIns="0" lIns="0" bIns="0" rIns="0">
            <a:spAutoFit/>
          </a:bodyPr>
          <a:lstStyle/>
          <a:p>
            <a:pPr algn="just">
              <a:lnSpc>
                <a:spcPts val="4549"/>
              </a:lnSpc>
            </a:pPr>
            <a:r>
              <a:rPr lang="en-US" sz="3249" spc="162">
                <a:solidFill>
                  <a:srgbClr val="191919"/>
                </a:solidFill>
                <a:latin typeface="Aileron Regular Bold"/>
              </a:rPr>
              <a:t>Main Idea:</a:t>
            </a:r>
          </a:p>
          <a:p>
            <a:pPr algn="just">
              <a:lnSpc>
                <a:spcPts val="4549"/>
              </a:lnSpc>
            </a:pPr>
          </a:p>
          <a:p>
            <a:pPr algn="just">
              <a:lnSpc>
                <a:spcPts val="4549"/>
              </a:lnSpc>
            </a:pPr>
            <a:r>
              <a:rPr lang="en-US" sz="3249" spc="162">
                <a:solidFill>
                  <a:srgbClr val="191919"/>
                </a:solidFill>
                <a:latin typeface="Aileron Regular"/>
              </a:rPr>
              <a:t>The froth contains a variety of bubbles (small, medium, big), the intuition behind this approach is: if a big bubble is collapsed the number of small bubbles  increases and that's because the big bubbles are usually filled with a number of bubbles inside.</a:t>
            </a:r>
          </a:p>
          <a:p>
            <a:pPr algn="just">
              <a:lnSpc>
                <a:spcPts val="4549"/>
              </a:lnSpc>
            </a:pPr>
          </a:p>
        </p:txBody>
      </p:sp>
      <p:sp>
        <p:nvSpPr>
          <p:cNvPr name="TextBox 4" id="4"/>
          <p:cNvSpPr txBox="true"/>
          <p:nvPr/>
        </p:nvSpPr>
        <p:spPr>
          <a:xfrm rot="0">
            <a:off x="422099" y="416909"/>
            <a:ext cx="13984838" cy="1204532"/>
          </a:xfrm>
          <a:prstGeom prst="rect">
            <a:avLst/>
          </a:prstGeom>
        </p:spPr>
        <p:txBody>
          <a:bodyPr anchor="t" rtlCol="false" tIns="0" lIns="0" bIns="0" rIns="0">
            <a:spAutoFit/>
          </a:bodyPr>
          <a:lstStyle/>
          <a:p>
            <a:pPr>
              <a:lnSpc>
                <a:spcPts val="4735"/>
              </a:lnSpc>
            </a:pPr>
            <a:r>
              <a:rPr lang="en-US" sz="3849" spc="230">
                <a:solidFill>
                  <a:srgbClr val="2C92D5"/>
                </a:solidFill>
                <a:latin typeface="Aileron Heavy Bold"/>
              </a:rPr>
              <a:t> METHOD BASED ON IMAGE SEGMENTATION</a:t>
            </a:r>
          </a:p>
          <a:p>
            <a:pPr>
              <a:lnSpc>
                <a:spcPts val="4735"/>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DAFDJVUNCUI</dc:identifier>
  <dcterms:modified xsi:type="dcterms:W3CDTF">2011-08-01T06:04:30Z</dcterms:modified>
  <cp:revision>1</cp:revision>
  <dc:title>MIC</dc:title>
</cp:coreProperties>
</file>